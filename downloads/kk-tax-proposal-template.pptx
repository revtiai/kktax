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78" r:id="rId9"/>
    <p:sldId id="263" r:id="rId10"/>
    <p:sldId id="270" r:id="rId11"/>
    <p:sldId id="279" r:id="rId12"/>
    <p:sldId id="271" r:id="rId13"/>
    <p:sldId id="282" r:id="rId14"/>
    <p:sldId id="272" r:id="rId15"/>
    <p:sldId id="277" r:id="rId16"/>
    <p:sldId id="280" r:id="rId17"/>
    <p:sldId id="273" r:id="rId18"/>
    <p:sldId id="274" r:id="rId19"/>
    <p:sldId id="275" r:id="rId20"/>
  </p:sldIdLst>
  <p:sldSz cx="12192000" cy="6858000"/>
  <p:notesSz cx="6858000" cy="9144000"/>
  <p:embeddedFontLst>
    <p:embeddedFont>
      <p:font typeface="Georgia" panose="020B0502020202020204" pitchFamily="34" charset="0"/>
      <p:regular r:id="rId22"/>
      <p:bold r:id="rId23"/>
      <p:italic r:id="rId24"/>
      <p:boldItalic r:id="rId25"/>
    </p:embeddedFont>
    <p:embeddedFont>
      <p:font typeface="Play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1D1A17"/>
      </a:buClr>
      <a:buFont typeface="Arial"/>
      <a:defRPr sz="1400" b="0" i="0" u="none" strike="noStrike" cap="none">
        <a:solidFill>
          <a:srgbClr val="1D1A17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1D1A17"/>
      </a:buClr>
      <a:buFont typeface="Arial"/>
      <a:defRPr sz="1400" b="0" i="0" u="none" strike="noStrike" cap="none">
        <a:solidFill>
          <a:srgbClr val="1D1A17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1D1A17"/>
      </a:buClr>
      <a:buFont typeface="Arial"/>
      <a:defRPr sz="1400" b="0" i="0" u="none" strike="noStrike" cap="none">
        <a:solidFill>
          <a:srgbClr val="1D1A17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1D1A17"/>
      </a:buClr>
      <a:buFont typeface="Arial"/>
      <a:defRPr sz="1400" b="0" i="0" u="none" strike="noStrike" cap="none">
        <a:solidFill>
          <a:srgbClr val="1D1A17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1D1A17"/>
      </a:buClr>
      <a:buFont typeface="Arial"/>
      <a:defRPr sz="1400" b="0" i="0" u="none" strike="noStrike" cap="none">
        <a:solidFill>
          <a:srgbClr val="1D1A17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1D1A17"/>
      </a:buClr>
      <a:buFont typeface="Arial"/>
      <a:defRPr sz="1400" b="0" i="0" u="none" strike="noStrike" cap="none">
        <a:solidFill>
          <a:srgbClr val="1D1A17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1D1A17"/>
      </a:buClr>
      <a:buFont typeface="Arial"/>
      <a:defRPr sz="1400" b="0" i="0" u="none" strike="noStrike" cap="none">
        <a:solidFill>
          <a:srgbClr val="1D1A17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1D1A17"/>
      </a:buClr>
      <a:buFont typeface="Arial"/>
      <a:defRPr sz="1400" b="0" i="0" u="none" strike="noStrike" cap="none">
        <a:solidFill>
          <a:srgbClr val="1D1A17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1D1A17"/>
      </a:buClr>
      <a:buFont typeface="Arial"/>
      <a:defRPr sz="1400" b="0" i="0" u="none" strike="noStrike" cap="none">
        <a:solidFill>
          <a:srgbClr val="1D1A17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hYh/Onq3LvQl6ti/DYIV8pISxp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C6A7C9-9C49-F149-ADA4-DA4E3D90139D}" v="1" dt="2026-10-01T08:54:42.518"/>
  </p1510:revLst>
</p1510:revInfo>
</file>

<file path=ppt/tableStyles.xml><?xml version="1.0" encoding="utf-8"?>
<a:tblStyleLst xmlns:a="http://schemas.openxmlformats.org/drawingml/2006/main" def="{133D7ECA-927A-4656-8BAB-AD5B51B80707}">
  <a:tblStyle styleId="{133D7ECA-927A-4656-8BAB-AD5B51B80707}" styleName="Table_0">
    <a:wholeTbl>
      <a:tcTxStyle b="off" i="off">
        <a:font>
          <a:latin typeface="Arial"/>
          <a:ea typeface="Arial"/>
          <a:cs typeface="Arial"/>
        </a:font>
        <a:srgbClr val="1D1A17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74"/>
    <p:restoredTop sz="94749"/>
  </p:normalViewPr>
  <p:slideViewPr>
    <p:cSldViewPr snapToGrid="0">
      <p:cViewPr varScale="1">
        <p:scale>
          <a:sx n="70" d="100"/>
          <a:sy n="70" d="100"/>
        </p:scale>
        <p:origin x="4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Relationship Id="rId32" Type="http://customschemas.google.com/relationships/presentationmetadata" Target="metadata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6/11/relationships/changesInfo" Target="changesInfos/changesInfo1.xml"/><Relationship Id="rId3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ayat Gaffar" userId="9816024e-9c11-43e5-852f-ed8b3b6aba84" providerId="ADAL" clId="{2496915B-536B-5A44-9A5C-840AB182C416}"/>
    <pc:docChg chg="custSel addSld delSld modSld">
      <pc:chgData name="Inayat Gaffar" userId="9816024e-9c11-43e5-852f-ed8b3b6aba84" providerId="ADAL" clId="{2496915B-536B-5A44-9A5C-840AB182C416}" dt="2026-10-01T08:55:18.595" v="14"/>
      <pc:docMkLst>
        <pc:docMk/>
      </pc:docMkLst>
      <pc:sldChg chg="del">
        <pc:chgData name="Inayat Gaffar" userId="9816024e-9c11-43e5-852f-ed8b3b6aba84" providerId="ADAL" clId="{2496915B-536B-5A44-9A5C-840AB182C416}" dt="2026-10-01T08:55:18.534" v="1"/>
        <pc:sldMkLst>
          <pc:docMk/>
          <pc:sldMk cId="0" sldId="281"/>
        </pc:sldMkLst>
      </pc:sldChg>
      <pc:sldChg chg="modSp add mod">
        <pc:chgData name="Inayat Gaffar" userId="9816024e-9c11-43e5-852f-ed8b3b6aba84" providerId="ADAL" clId="{2496915B-536B-5A44-9A5C-840AB182C416}" dt="2026-10-01T08:55:18.595" v="14"/>
        <pc:sldMkLst>
          <pc:docMk/>
          <pc:sldMk cId="2069009075" sldId="282"/>
        </pc:sldMkLst>
        <pc:graphicFrameChg chg="modGraphic">
          <ac:chgData name="Inayat Gaffar" userId="9816024e-9c11-43e5-852f-ed8b3b6aba84" providerId="ADAL" clId="{2496915B-536B-5A44-9A5C-840AB182C416}" dt="2026-10-01T08:55:18.595" v="14"/>
          <ac:graphicFrameMkLst>
            <pc:docMk/>
            <pc:sldMk cId="2069009075" sldId="282"/>
            <ac:graphicFrameMk id="253" creationId="{00000000-0000-0000-0000-000000000000}"/>
          </ac:graphicFrameMkLst>
        </pc:graphicFrameChg>
      </pc:sldChg>
    </pc:docChg>
  </pc:docChgLst>
  <pc:docChgLst>
    <pc:chgData name="Beatrice Cooper" userId="de811ff0-abe5-4291-a692-133bc69f8e44" providerId="ADAL" clId="{9E2398ED-8305-5E55-94EC-4A7CDE5DD1E2}"/>
    <pc:docChg chg="modSld">
      <pc:chgData name="Beatrice Cooper" userId="de811ff0-abe5-4291-a692-133bc69f8e44" providerId="ADAL" clId="{9E2398ED-8305-5E55-94EC-4A7CDE5DD1E2}" dt="2026-10-01T06:15:31.185" v="187" actId="20577"/>
      <pc:docMkLst>
        <pc:docMk/>
      </pc:docMkLst>
      <pc:sldChg chg="modSp mod">
        <pc:chgData name="Beatrice Cooper" userId="de811ff0-abe5-4291-a692-133bc69f8e44" providerId="ADAL" clId="{9E2398ED-8305-5E55-94EC-4A7CDE5DD1E2}" dt="2026-10-01T06:15:31.185" v="187" actId="20577"/>
        <pc:sldMkLst>
          <pc:docMk/>
          <pc:sldMk cId="0" sldId="256"/>
        </pc:sldMkLst>
        <pc:spChg chg="mod">
          <ac:chgData name="Beatrice Cooper" userId="de811ff0-abe5-4291-a692-133bc69f8e44" providerId="ADAL" clId="{9E2398ED-8305-5E55-94EC-4A7CDE5DD1E2}" dt="2026-10-01T06:15:31.185" v="187" actId="20577"/>
          <ac:spMkLst>
            <pc:docMk/>
            <pc:sldMk cId="0" sldId="256"/>
            <ac:spMk id="84" creationId="{00000000-0000-0000-0000-000000000000}"/>
          </ac:spMkLst>
        </pc:spChg>
      </pc:sldChg>
      <pc:sldChg chg="modSp mod">
        <pc:chgData name="Beatrice Cooper" userId="de811ff0-abe5-4291-a692-133bc69f8e44" providerId="ADAL" clId="{9E2398ED-8305-5E55-94EC-4A7CDE5DD1E2}" dt="2026-10-01T06:00:23.250" v="12" actId="20577"/>
        <pc:sldMkLst>
          <pc:docMk/>
          <pc:sldMk cId="0" sldId="271"/>
        </pc:sldMkLst>
        <pc:spChg chg="mod">
          <ac:chgData name="Beatrice Cooper" userId="de811ff0-abe5-4291-a692-133bc69f8e44" providerId="ADAL" clId="{9E2398ED-8305-5E55-94EC-4A7CDE5DD1E2}" dt="2026-10-01T06:00:23.250" v="12" actId="20577"/>
          <ac:spMkLst>
            <pc:docMk/>
            <pc:sldMk cId="0" sldId="271"/>
            <ac:spMk id="9001" creationId="{00000000-0000-0000-0000-000000000000}"/>
          </ac:spMkLst>
        </pc:spChg>
      </pc:sldChg>
      <pc:sldChg chg="modSp mod">
        <pc:chgData name="Beatrice Cooper" userId="de811ff0-abe5-4291-a692-133bc69f8e44" providerId="ADAL" clId="{9E2398ED-8305-5E55-94EC-4A7CDE5DD1E2}" dt="2026-10-01T06:12:02.883" v="123" actId="20577"/>
        <pc:sldMkLst>
          <pc:docMk/>
          <pc:sldMk cId="0" sldId="272"/>
        </pc:sldMkLst>
        <pc:spChg chg="mod">
          <ac:chgData name="Beatrice Cooper" userId="de811ff0-abe5-4291-a692-133bc69f8e44" providerId="ADAL" clId="{9E2398ED-8305-5E55-94EC-4A7CDE5DD1E2}" dt="2026-10-01T06:12:02.883" v="123" actId="20577"/>
          <ac:spMkLst>
            <pc:docMk/>
            <pc:sldMk cId="0" sldId="272"/>
            <ac:spMk id="2" creationId="{DA53DDE0-9A74-3868-B029-FE0B31CDB907}"/>
          </ac:spMkLst>
        </pc:spChg>
      </pc:sldChg>
      <pc:sldChg chg="modSp mod">
        <pc:chgData name="Beatrice Cooper" userId="de811ff0-abe5-4291-a692-133bc69f8e44" providerId="ADAL" clId="{9E2398ED-8305-5E55-94EC-4A7CDE5DD1E2}" dt="2026-10-01T06:13:06.471" v="131" actId="20577"/>
        <pc:sldMkLst>
          <pc:docMk/>
          <pc:sldMk cId="3643309051" sldId="277"/>
        </pc:sldMkLst>
        <pc:spChg chg="mod">
          <ac:chgData name="Beatrice Cooper" userId="de811ff0-abe5-4291-a692-133bc69f8e44" providerId="ADAL" clId="{9E2398ED-8305-5E55-94EC-4A7CDE5DD1E2}" dt="2026-10-01T06:13:06.471" v="131" actId="20577"/>
          <ac:spMkLst>
            <pc:docMk/>
            <pc:sldMk cId="3643309051" sldId="277"/>
            <ac:spMk id="252" creationId="{B28A4683-C359-84BD-F08C-388BD3F49D5B}"/>
          </ac:spMkLst>
        </pc:spChg>
      </pc:sldChg>
      <pc:sldChg chg="modSp mod">
        <pc:chgData name="Beatrice Cooper" userId="de811ff0-abe5-4291-a692-133bc69f8e44" providerId="ADAL" clId="{9E2398ED-8305-5E55-94EC-4A7CDE5DD1E2}" dt="2026-10-01T06:15:11.763" v="179" actId="20577"/>
        <pc:sldMkLst>
          <pc:docMk/>
          <pc:sldMk cId="0" sldId="280"/>
        </pc:sldMkLst>
        <pc:spChg chg="mod">
          <ac:chgData name="Beatrice Cooper" userId="de811ff0-abe5-4291-a692-133bc69f8e44" providerId="ADAL" clId="{9E2398ED-8305-5E55-94EC-4A7CDE5DD1E2}" dt="2026-10-01T06:15:11.763" v="179" actId="20577"/>
          <ac:spMkLst>
            <pc:docMk/>
            <pc:sldMk cId="0" sldId="280"/>
            <ac:spMk id="245" creationId="{00000000-0000-0000-0000-000000000000}"/>
          </ac:spMkLst>
        </pc:spChg>
      </pc:sldChg>
      <pc:sldChg chg="modSp mod">
        <pc:chgData name="Beatrice Cooper" userId="de811ff0-abe5-4291-a692-133bc69f8e44" providerId="ADAL" clId="{9E2398ED-8305-5E55-94EC-4A7CDE5DD1E2}" dt="2026-10-01T06:02:59.386" v="72" actId="20577"/>
        <pc:sldMkLst>
          <pc:docMk/>
          <pc:sldMk cId="0" sldId="281"/>
        </pc:sldMkLst>
        <pc:spChg chg="mod">
          <ac:chgData name="Beatrice Cooper" userId="de811ff0-abe5-4291-a692-133bc69f8e44" providerId="ADAL" clId="{9E2398ED-8305-5E55-94EC-4A7CDE5DD1E2}" dt="2026-10-01T06:02:59.386" v="72" actId="20577"/>
          <ac:spMkLst>
            <pc:docMk/>
            <pc:sldMk cId="0" sldId="281"/>
            <ac:spMk id="252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1D1A17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1D1A1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1D1A1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1D1A1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1D1A1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1D1A1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1D1A1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1D1A1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1D1A1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1D1A1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1D1A17"/>
      </a:buClr>
      <a:buFont typeface="Arial"/>
      <a:defRPr sz="1400" b="0" i="0" u="none" strike="noStrike" cap="none">
        <a:solidFill>
          <a:srgbClr val="1D1A17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1D1A17"/>
      </a:buClr>
      <a:buFont typeface="Arial"/>
      <a:defRPr sz="1400" b="0" i="0" u="none" strike="noStrike" cap="none">
        <a:solidFill>
          <a:srgbClr val="1D1A17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1D1A17"/>
      </a:buClr>
      <a:buFont typeface="Arial"/>
      <a:defRPr sz="1400" b="0" i="0" u="none" strike="noStrike" cap="none">
        <a:solidFill>
          <a:srgbClr val="1D1A17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1D1A17"/>
      </a:buClr>
      <a:buFont typeface="Arial"/>
      <a:defRPr sz="1400" b="0" i="0" u="none" strike="noStrike" cap="none">
        <a:solidFill>
          <a:srgbClr val="1D1A17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1D1A17"/>
      </a:buClr>
      <a:buFont typeface="Arial"/>
      <a:defRPr sz="1400" b="0" i="0" u="none" strike="noStrike" cap="none">
        <a:solidFill>
          <a:srgbClr val="1D1A17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1D1A17"/>
      </a:buClr>
      <a:buFont typeface="Arial"/>
      <a:defRPr sz="1400" b="0" i="0" u="none" strike="noStrike" cap="none">
        <a:solidFill>
          <a:srgbClr val="1D1A17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1D1A17"/>
      </a:buClr>
      <a:buFont typeface="Arial"/>
      <a:defRPr sz="1400" b="0" i="0" u="none" strike="noStrike" cap="none">
        <a:solidFill>
          <a:srgbClr val="1D1A17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1D1A17"/>
      </a:buClr>
      <a:buFont typeface="Arial"/>
      <a:defRPr sz="1400" b="0" i="0" u="none" strike="noStrike" cap="none">
        <a:solidFill>
          <a:srgbClr val="1D1A17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1D1A17"/>
      </a:buClr>
      <a:buFont typeface="Arial"/>
      <a:defRPr sz="1400" b="0" i="0" u="none" strike="noStrike" cap="none">
        <a:solidFill>
          <a:srgbClr val="1D1A17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1D1A17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1D1A17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1D1A17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1D1A17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1D1A17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1D1A17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A39F87FB-DB04-A854-F0F7-C39E6C4EB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>
            <a:extLst>
              <a:ext uri="{FF2B5EF4-FFF2-40B4-BE49-F238E27FC236}">
                <a16:creationId xmlns:a16="http://schemas.microsoft.com/office/drawing/2014/main" id="{DB359084-C5D1-D928-C167-FB48C981CF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  <p:sp>
        <p:nvSpPr>
          <p:cNvPr id="122" name="Google Shape;122;p7:notes">
            <a:extLst>
              <a:ext uri="{FF2B5EF4-FFF2-40B4-BE49-F238E27FC236}">
                <a16:creationId xmlns:a16="http://schemas.microsoft.com/office/drawing/2014/main" id="{04476F04-96A6-5D78-27B6-D42E3B2752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1D1A17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60961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1D1A17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1D1A17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  <p:sp>
        <p:nvSpPr>
          <p:cNvPr id="220" name="Google Shape;2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1D1A17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  <p:sp>
        <p:nvSpPr>
          <p:cNvPr id="248" name="Google Shape;2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1D1A17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F7FCF6DC-7445-0429-E04B-EF3A2CD2A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:notes">
            <a:extLst>
              <a:ext uri="{FF2B5EF4-FFF2-40B4-BE49-F238E27FC236}">
                <a16:creationId xmlns:a16="http://schemas.microsoft.com/office/drawing/2014/main" id="{883003DF-D2B8-E594-5E5C-9A1A3825A8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  <p:sp>
        <p:nvSpPr>
          <p:cNvPr id="248" name="Google Shape;248;p15:notes">
            <a:extLst>
              <a:ext uri="{FF2B5EF4-FFF2-40B4-BE49-F238E27FC236}">
                <a16:creationId xmlns:a16="http://schemas.microsoft.com/office/drawing/2014/main" id="{53E38ED7-8D2B-CCF5-C36D-FC1D5DE173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1D1A17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135299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  <p:sp>
        <p:nvSpPr>
          <p:cNvPr id="256" name="Google Shape;2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1D1A17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  <p:sp>
        <p:nvSpPr>
          <p:cNvPr id="262" name="Google Shape;26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1D1A17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  <p:sp>
        <p:nvSpPr>
          <p:cNvPr id="269" name="Google Shape;26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1D1A17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25A52"/>
              </a:buClr>
              <a:buSzPts val="2400"/>
              <a:buNone/>
              <a:defRPr sz="2400">
                <a:solidFill>
                  <a:srgbClr val="625A5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25A52"/>
              </a:buClr>
              <a:buSzPts val="2000"/>
              <a:buNone/>
              <a:defRPr sz="2000">
                <a:solidFill>
                  <a:srgbClr val="625A5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25A52"/>
              </a:buClr>
              <a:buSzPts val="1800"/>
              <a:buNone/>
              <a:defRPr sz="1800">
                <a:solidFill>
                  <a:srgbClr val="625A52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25A52"/>
              </a:buClr>
              <a:buSzPts val="1600"/>
              <a:buNone/>
              <a:defRPr sz="1600">
                <a:solidFill>
                  <a:srgbClr val="625A52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25A52"/>
              </a:buClr>
              <a:buSzPts val="1600"/>
              <a:buNone/>
              <a:defRPr sz="1600">
                <a:solidFill>
                  <a:srgbClr val="625A52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25A52"/>
              </a:buClr>
              <a:buSzPts val="1600"/>
              <a:buNone/>
              <a:defRPr sz="1600">
                <a:solidFill>
                  <a:srgbClr val="625A52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25A52"/>
              </a:buClr>
              <a:buSzPts val="1600"/>
              <a:buNone/>
              <a:defRPr sz="1600">
                <a:solidFill>
                  <a:srgbClr val="625A52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25A52"/>
              </a:buClr>
              <a:buSzPts val="1600"/>
              <a:buNone/>
              <a:defRPr sz="1600">
                <a:solidFill>
                  <a:srgbClr val="625A52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25A52"/>
              </a:buClr>
              <a:buSzPts val="1600"/>
              <a:buNone/>
              <a:defRPr sz="1600">
                <a:solidFill>
                  <a:srgbClr val="625A52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1D1A1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1D1A1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1D1A1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1D1A1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1D1A1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1D1A1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1D1A1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1D1A1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25A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D1A17"/>
        </a:buClr>
        <a:buFont typeface="Arial"/>
        <a:defRPr sz="1400" b="0" i="0" u="none" strike="noStrike" cap="none">
          <a:solidFill>
            <a:srgbClr val="1D1A17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429265" y="4400135"/>
            <a:ext cx="2275231" cy="28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[DD/MM/YYYY]</a:t>
            </a:r>
            <a:endParaRPr sz="1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429265" y="3154328"/>
            <a:ext cx="11006583" cy="96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80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GB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[CLIENT NAME] | [SUBJECT OF ADVICE]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429265" y="2379524"/>
            <a:ext cx="10762735" cy="675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800" rIns="0" bIns="0" anchor="ctr" anchorCtr="0">
            <a:noAutofit/>
          </a:bodyPr>
          <a:lstStyle/>
          <a:p>
            <a:pPr marL="0" marR="0" lvl="0" indent="0" algn="l" rtl="0">
              <a:lnSpc>
                <a:spcPct val="161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PROPOSAL FOR TAX ADVISORY SERVICES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634616" y="167902"/>
            <a:ext cx="10762735" cy="675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800" rIns="0" bIns="0" anchor="ctr" anchorCtr="0">
            <a:noAutofit/>
          </a:bodyPr>
          <a:lstStyle/>
          <a:p>
            <a:pPr marL="0" marR="0" lvl="0" indent="0" algn="l" rtl="0">
              <a:lnSpc>
                <a:spcPct val="9068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GB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2"/>
          <p:cNvGraphicFramePr/>
          <p:nvPr>
            <p:extLst>
              <p:ext uri="{D42A27DB-BD31-4B8C-83A1-F6EECF244321}">
                <p14:modId xmlns:p14="http://schemas.microsoft.com/office/powerpoint/2010/main" val="3773503592"/>
              </p:ext>
            </p:extLst>
          </p:nvPr>
        </p:nvGraphicFramePr>
        <p:xfrm>
          <a:off x="704335" y="1889761"/>
          <a:ext cx="10865975" cy="2142000"/>
        </p:xfrm>
        <a:graphic>
          <a:graphicData uri="http://schemas.openxmlformats.org/drawingml/2006/table">
            <a:tbl>
              <a:tblPr>
                <a:noFill/>
                <a:tableStyleId>{133D7ECA-927A-4656-8BAB-AD5B51B80707}</a:tableStyleId>
              </a:tblPr>
              <a:tblGrid>
                <a:gridCol w="971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TRANSMITTAL LETTER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5725" marB="45725">
                    <a:lnL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725" marB="45725">
                    <a:lnL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BACKGROUND &amp; OBJECTIVES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5725" marB="45725">
                    <a:lnL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725" marB="45725">
                    <a:lnL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STRUCTURE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5725" marB="45725">
                    <a:lnL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725" marB="45725">
                    <a:lnL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OUR PROPOSAL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5725" marB="45725">
                    <a:lnL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b="1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800" u="none" strike="noStrike" cap="none" dirty="0"/>
                    </a:p>
                  </a:txBody>
                  <a:tcPr marL="0" marR="0" marT="45725" marB="45725">
                    <a:lnL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A17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 dirty="0">
                          <a:solidFill>
                            <a:schemeClr val="dk1"/>
                          </a:solidFill>
                        </a:rPr>
                        <a:t>         [PROPOSAL SECTION]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5725" marB="45725">
                    <a:lnL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A17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725" marB="45725">
                    <a:lnL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FUTURE CONSIDERATIONS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5725" marB="45725">
                    <a:lnL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800" u="none" strike="noStrike" cap="none" dirty="0"/>
                    </a:p>
                  </a:txBody>
                  <a:tcPr marL="0" marR="0" marT="45725" marB="45725">
                    <a:lnL w="9525" cap="flat" cmpd="sng" algn="ctr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NEXT STEPS</a:t>
                      </a:r>
                      <a:endParaRPr sz="1200" b="1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5725" marB="45725">
                    <a:lnL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b="1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1800" b="1" u="none" strike="noStrike" cap="none" dirty="0"/>
                    </a:p>
                  </a:txBody>
                  <a:tcPr marL="0" marR="0" marT="45725" marB="45725">
                    <a:lnL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1A1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25A5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3" name="Google Shape;93;p2"/>
          <p:cNvSpPr txBox="1"/>
          <p:nvPr/>
        </p:nvSpPr>
        <p:spPr>
          <a:xfrm>
            <a:off x="11519381" y="6356331"/>
            <a:ext cx="381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/>
              <a:buNone/>
            </a:pPr>
            <a:fld id="{00000000-1234-1234-1234-123412341234}" type="slidenum">
              <a:rPr lang="en-GB" sz="1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2</a:t>
            </a:fld>
            <a:endParaRPr sz="1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11519381" y="6356331"/>
            <a:ext cx="381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/>
              <a:buNone/>
            </a:pPr>
            <a:fld id="{00000000-1234-1234-1234-123412341234}" type="slidenum">
              <a:rPr lang="en-GB" sz="1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3</a:t>
            </a:fld>
            <a:endParaRPr sz="1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2253672" y="1565532"/>
            <a:ext cx="8432700" cy="40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buNone/>
            </a:pPr>
            <a:r>
              <a:rPr lang="en-GB" sz="10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Dear [Name],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r>
              <a:rPr lang="en-GB" sz="10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[Set out why you are writing, what you discussed with the client and what this proposal covers.]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r>
              <a:rPr lang="en-GB" sz="10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Kishan Kavi, Director, KK Tax Limited</a:t>
            </a:r>
            <a:endParaRPr lang="en-GB" sz="1050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/>
        </p:nvSpPr>
        <p:spPr>
          <a:xfrm>
            <a:off x="11519381" y="6356331"/>
            <a:ext cx="381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/>
              <a:buNone/>
            </a:pPr>
            <a:fld id="{00000000-1234-1234-1234-123412341234}" type="slidenum">
              <a:rPr lang="en-GB" sz="1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4</a:t>
            </a:fld>
            <a:endParaRPr sz="1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3223490" y="2274858"/>
            <a:ext cx="5966692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GB" sz="6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BACKGROUND &amp; OBJECTIVES</a:t>
            </a:r>
            <a:endParaRPr sz="6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/>
        </p:nvSpPr>
        <p:spPr>
          <a:xfrm>
            <a:off x="11519381" y="6356331"/>
            <a:ext cx="381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/>
              <a:buNone/>
            </a:pPr>
            <a:fld id="{00000000-1234-1234-1234-123412341234}" type="slidenum">
              <a:rPr lang="en-GB" sz="1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5</a:t>
            </a:fld>
            <a:endParaRPr sz="1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756646" y="363635"/>
            <a:ext cx="10762735" cy="28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800" rIns="0" bIns="0" anchor="ctr" anchorCtr="0">
            <a:noAutofit/>
          </a:bodyPr>
          <a:lstStyle/>
          <a:p>
            <a:pPr marL="0" marR="0" lvl="0" indent="0" algn="l" rtl="0">
              <a:lnSpc>
                <a:spcPct val="1036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</a:pPr>
            <a:r>
              <a:rPr lang="en-GB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BACKGROUND &amp; OBJECTIVES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634616" y="1128834"/>
            <a:ext cx="5400000" cy="5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None/>
            </a:pPr>
            <a:r>
              <a:rPr lang="en-GB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 lang="en-GB" sz="1000" dirty="0">
              <a:latin typeface="Arial"/>
            </a:endParaRPr>
          </a:p>
          <a:p>
            <a:pPr algn="just">
              <a:buNone/>
            </a:pPr>
            <a:r>
              <a:rPr lang="en-GB" sz="10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00" dirty="0">
              <a:latin typeface="Arial"/>
            </a:endParaRPr>
          </a:p>
          <a:p>
            <a:pPr algn="just">
              <a:buNone/>
            </a:pPr>
            <a:endParaRPr lang="en-GB" sz="1000" dirty="0">
              <a:latin typeface="Arial"/>
            </a:endParaRPr>
          </a:p>
          <a:p>
            <a:pPr algn="just">
              <a:buNone/>
            </a:pPr>
            <a:r>
              <a:rPr lang="en-GB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[HEADING]</a:t>
            </a:r>
            <a:endParaRPr lang="en-GB" sz="1000" dirty="0">
              <a:latin typeface="Arial"/>
            </a:endParaRPr>
          </a:p>
          <a:p>
            <a:pPr algn="just">
              <a:buNone/>
            </a:pPr>
            <a:endParaRPr lang="en-GB" sz="1000" dirty="0">
              <a:latin typeface="Arial"/>
            </a:endParaRPr>
          </a:p>
          <a:p>
            <a:pPr marL="171450" indent="-171450" algn="just">
              <a:buFont typeface="Arial"/>
              <a:buChar char="•"/>
            </a:pPr>
            <a:r>
              <a:rPr lang="en-GB" sz="10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00" dirty="0">
              <a:latin typeface="Arial"/>
            </a:endParaRPr>
          </a:p>
          <a:p>
            <a:pPr algn="just">
              <a:buNone/>
            </a:pPr>
            <a:r>
              <a:rPr lang="en-GB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[HEADING]</a:t>
            </a:r>
            <a:endParaRPr lang="en-GB" sz="1000" dirty="0">
              <a:latin typeface="Arial"/>
            </a:endParaRPr>
          </a:p>
          <a:p>
            <a:pPr marL="171450" indent="-171450" algn="just">
              <a:buFont typeface="Arial"/>
              <a:buChar char="•"/>
            </a:pPr>
            <a:r>
              <a:rPr lang="en-GB" sz="10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00" dirty="0">
              <a:latin typeface="Arial"/>
            </a:endParaRPr>
          </a:p>
          <a:p>
            <a:pPr algn="just">
              <a:buNone/>
            </a:pPr>
            <a:r>
              <a:rPr lang="en-GB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Trading companies</a:t>
            </a:r>
            <a:endParaRPr lang="en-GB" sz="1000" dirty="0">
              <a:latin typeface="Arial"/>
            </a:endParaRPr>
          </a:p>
          <a:p>
            <a:pPr marL="171450" indent="-171450" algn="just">
              <a:buFont typeface="Arial"/>
              <a:buChar char="•"/>
            </a:pPr>
            <a:r>
              <a:rPr lang="en-GB" sz="10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00" dirty="0">
              <a:latin typeface="Arial"/>
            </a:endParaRPr>
          </a:p>
          <a:p>
            <a:pPr algn="just">
              <a:buNone/>
            </a:pPr>
            <a:endParaRPr lang="en-GB" sz="1000" dirty="0">
              <a:latin typeface="Arial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6311975" y="1125803"/>
            <a:ext cx="5475000" cy="5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None/>
            </a:pPr>
            <a:r>
              <a:rPr lang="en-GB" sz="10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00" dirty="0">
              <a:latin typeface="Arial"/>
            </a:endParaRPr>
          </a:p>
          <a:p>
            <a:pPr algn="just">
              <a:buNone/>
            </a:pPr>
            <a:endParaRPr lang="en-GB" sz="1000" dirty="0">
              <a:latin typeface="Arial"/>
            </a:endParaRPr>
          </a:p>
          <a:p>
            <a:pPr algn="just">
              <a:buNone/>
            </a:pPr>
            <a:endParaRPr lang="en-GB" sz="1000" dirty="0">
              <a:latin typeface="Arial"/>
            </a:endParaRPr>
          </a:p>
          <a:p>
            <a:pPr algn="just">
              <a:buNone/>
            </a:pPr>
            <a:endParaRPr lang="en-GB" sz="1000" dirty="0">
              <a:latin typeface="Arial"/>
            </a:endParaRPr>
          </a:p>
          <a:p>
            <a:pPr algn="just">
              <a:buNone/>
            </a:pPr>
            <a:endParaRPr lang="en-GB" sz="1000" dirty="0">
              <a:latin typeface="Arial"/>
            </a:endParaRPr>
          </a:p>
          <a:p>
            <a:pPr algn="just">
              <a:buNone/>
            </a:pPr>
            <a:r>
              <a:rPr lang="en-GB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lang="en-GB" sz="1000" dirty="0">
              <a:latin typeface="Arial"/>
            </a:endParaRPr>
          </a:p>
          <a:p>
            <a:pPr algn="just">
              <a:buNone/>
            </a:pPr>
            <a:r>
              <a:rPr lang="en-GB" sz="10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00" dirty="0">
              <a:latin typeface="Arial"/>
            </a:endParaRPr>
          </a:p>
          <a:p>
            <a:pPr algn="just">
              <a:buNone/>
            </a:pPr>
            <a:endParaRPr lang="en-GB" sz="1000" dirty="0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/>
        </p:nvSpPr>
        <p:spPr>
          <a:xfrm>
            <a:off x="11519381" y="6356331"/>
            <a:ext cx="381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/>
              <a:buNone/>
            </a:pPr>
            <a:fld id="{00000000-1234-1234-1234-123412341234}" type="slidenum">
              <a:rPr lang="en-GB" sz="1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6</a:t>
            </a:fld>
            <a:endParaRPr sz="1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3223490" y="2274858"/>
            <a:ext cx="5966692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GB" sz="6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STRUCTURE</a:t>
            </a:r>
            <a:endParaRPr sz="6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3">
          <a:extLst>
            <a:ext uri="{FF2B5EF4-FFF2-40B4-BE49-F238E27FC236}">
              <a16:creationId xmlns:a16="http://schemas.microsoft.com/office/drawing/2014/main" id="{D026558D-9D3D-3ABE-DA95-0E1E1E4D5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>
            <a:extLst>
              <a:ext uri="{FF2B5EF4-FFF2-40B4-BE49-F238E27FC236}">
                <a16:creationId xmlns:a16="http://schemas.microsoft.com/office/drawing/2014/main" id="{7FA7B9B2-3BCE-6521-CDB1-A11ACC2A5C7A}"/>
              </a:ext>
            </a:extLst>
          </p:cNvPr>
          <p:cNvSpPr txBox="1"/>
          <p:nvPr/>
        </p:nvSpPr>
        <p:spPr>
          <a:xfrm>
            <a:off x="11519381" y="6356331"/>
            <a:ext cx="381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000"/>
              <a:buFont typeface="Georgia"/>
              <a:buNone/>
              <a:tabLst/>
              <a:defRPr/>
            </a:pPr>
            <a:fld id="{00000000-1234-1234-1234-123412341234}" type="slidenum"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srgbClr val="1D1A17"/>
                </a:solidFill>
                <a:effectLst/>
                <a:uLnTx/>
                <a:uFillTx/>
                <a:latin typeface="Georgia"/>
                <a:ea typeface="Georgia"/>
                <a:cs typeface="Georgia"/>
                <a:sym typeface="Georgi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A17"/>
                </a:buClr>
                <a:buSzPts val="1000"/>
                <a:buFont typeface="Georgia"/>
                <a:buNone/>
                <a:tabLst/>
                <a:defRPr/>
              </a:pPr>
              <a:t>7</a:t>
            </a:fld>
            <a:endParaRPr kumimoji="0" sz="1000" b="1" i="0" u="none" strike="noStrike" kern="0" cap="none" spc="0" normalizeH="0" baseline="0" noProof="0">
              <a:ln>
                <a:noFill/>
              </a:ln>
              <a:solidFill>
                <a:srgbClr val="1D1A17"/>
              </a:solidFill>
              <a:effectLst/>
              <a:uLnTx/>
              <a:uFillTx/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5" name="Google Shape;125;p7">
            <a:extLst>
              <a:ext uri="{FF2B5EF4-FFF2-40B4-BE49-F238E27FC236}">
                <a16:creationId xmlns:a16="http://schemas.microsoft.com/office/drawing/2014/main" id="{20DC6387-E93D-30A9-3FD5-87363D6F94E3}"/>
              </a:ext>
            </a:extLst>
          </p:cNvPr>
          <p:cNvSpPr txBox="1"/>
          <p:nvPr/>
        </p:nvSpPr>
        <p:spPr>
          <a:xfrm>
            <a:off x="137334" y="389047"/>
            <a:ext cx="10762735" cy="28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80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3642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2800"/>
              <a:buFont typeface="Calibri"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CURRENT STRUCTURE (PROPERTY COMPANIES)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>
            <a:extLst>
              <a:ext uri="{FF2B5EF4-FFF2-40B4-BE49-F238E27FC236}">
                <a16:creationId xmlns:a16="http://schemas.microsoft.com/office/drawing/2014/main" id="{567F759B-5F5B-4A98-AB04-B11FCEFE4175}"/>
              </a:ext>
            </a:extLst>
          </p:cNvPr>
          <p:cNvSpPr txBox="1"/>
          <p:nvPr/>
        </p:nvSpPr>
        <p:spPr>
          <a:xfrm>
            <a:off x="5258867" y="1286744"/>
            <a:ext cx="5760000" cy="472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None/>
            </a:pPr>
            <a:r>
              <a:rPr lang="en-GB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TAX IMPLICATIONS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r>
              <a:rPr lang="en-GB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Inheritance Tax (“IHT”)</a:t>
            </a:r>
            <a:endParaRPr lang="en-GB" sz="1050" dirty="0">
              <a:latin typeface="Arial"/>
            </a:endParaRPr>
          </a:p>
          <a:p>
            <a:pPr marL="171450" indent="-171450" algn="just">
              <a:buFont typeface="Arial"/>
              <a:buChar char="•"/>
            </a:pPr>
            <a:r>
              <a:rPr lang="en-GB" sz="10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r>
              <a:rPr lang="en-GB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Corporation Tax &amp; Income Tax</a:t>
            </a:r>
            <a:endParaRPr lang="en-GB" sz="1050" dirty="0">
              <a:latin typeface="Arial"/>
            </a:endParaRPr>
          </a:p>
          <a:p>
            <a:pPr marL="171450" indent="-171450" algn="just">
              <a:buFont typeface="Arial"/>
              <a:buChar char="•"/>
            </a:pPr>
            <a:r>
              <a:rPr lang="en-GB" sz="10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r>
              <a:rPr lang="en-GB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Timing</a:t>
            </a:r>
            <a:endParaRPr lang="en-GB" sz="1050" dirty="0">
              <a:latin typeface="Arial"/>
            </a:endParaRPr>
          </a:p>
          <a:p>
            <a:pPr marL="171450" indent="-171450" algn="just">
              <a:buFont typeface="Arial"/>
              <a:buChar char="•"/>
            </a:pPr>
            <a:r>
              <a:rPr lang="en-GB" sz="10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50" dirty="0">
              <a:latin typeface="Arial"/>
            </a:endParaRPr>
          </a:p>
        </p:txBody>
      </p:sp>
      <p:sp>
        <p:nvSpPr>
          <p:cNvPr id="5001" name="Google Shape;182;p8">
            <a:extLst>
              <a:ext uri="{FF2B5EF4-FFF2-40B4-BE49-F238E27FC236}">
                <a16:creationId xmlns:a16="http://schemas.microsoft.com/office/drawing/2014/main" id="{7C21B716-3889-8CA6-FEE4-5E8406852FC6}"/>
              </a:ext>
            </a:extLst>
          </p:cNvPr>
          <p:cNvSpPr/>
          <p:nvPr/>
        </p:nvSpPr>
        <p:spPr>
          <a:xfrm>
            <a:off x="2858351" y="2150000"/>
            <a:ext cx="283298" cy="474670"/>
          </a:xfrm>
          <a:custGeom>
            <a:avLst/>
            <a:gdLst/>
            <a:ahLst/>
            <a:cxnLst/>
            <a:rect l="l" t="t" r="r" b="b"/>
            <a:pathLst>
              <a:path w="26381" h="43659" extrusionOk="0">
                <a:moveTo>
                  <a:pt x="11210" y="9732"/>
                </a:moveTo>
                <a:cubicBezTo>
                  <a:pt x="11190" y="9745"/>
                  <a:pt x="4882" y="9351"/>
                  <a:pt x="4862" y="9364"/>
                </a:cubicBezTo>
                <a:lnTo>
                  <a:pt x="0" y="21086"/>
                </a:lnTo>
                <a:lnTo>
                  <a:pt x="3789" y="22349"/>
                </a:lnTo>
                <a:lnTo>
                  <a:pt x="7160" y="13355"/>
                </a:lnTo>
                <a:cubicBezTo>
                  <a:pt x="7186" y="16993"/>
                  <a:pt x="7238" y="20168"/>
                  <a:pt x="7264" y="23806"/>
                </a:cubicBezTo>
                <a:lnTo>
                  <a:pt x="2389" y="43560"/>
                </a:lnTo>
                <a:lnTo>
                  <a:pt x="7383" y="43615"/>
                </a:lnTo>
                <a:lnTo>
                  <a:pt x="13572" y="26995"/>
                </a:lnTo>
                <a:lnTo>
                  <a:pt x="19486" y="43659"/>
                </a:lnTo>
                <a:lnTo>
                  <a:pt x="24543" y="43597"/>
                </a:lnTo>
                <a:lnTo>
                  <a:pt x="19599" y="23845"/>
                </a:lnTo>
                <a:cubicBezTo>
                  <a:pt x="19624" y="20283"/>
                  <a:pt x="19633" y="16991"/>
                  <a:pt x="19658" y="13429"/>
                </a:cubicBezTo>
                <a:lnTo>
                  <a:pt x="23287" y="22244"/>
                </a:lnTo>
                <a:lnTo>
                  <a:pt x="26381" y="20532"/>
                </a:lnTo>
                <a:lnTo>
                  <a:pt x="22135" y="9264"/>
                </a:lnTo>
                <a:lnTo>
                  <a:pt x="15096" y="9847"/>
                </a:lnTo>
                <a:cubicBezTo>
                  <a:pt x="18352" y="7696"/>
                  <a:pt x="18099" y="5804"/>
                  <a:pt x="18168" y="5042"/>
                </a:cubicBezTo>
                <a:lnTo>
                  <a:pt x="18168" y="5042"/>
                </a:lnTo>
                <a:cubicBezTo>
                  <a:pt x="18168" y="2375"/>
                  <a:pt x="15946" y="0"/>
                  <a:pt x="13279" y="0"/>
                </a:cubicBezTo>
                <a:cubicBezTo>
                  <a:pt x="10285" y="45"/>
                  <a:pt x="8210" y="2590"/>
                  <a:pt x="8091" y="4812"/>
                </a:cubicBezTo>
                <a:cubicBezTo>
                  <a:pt x="8057" y="6947"/>
                  <a:pt x="9286" y="8616"/>
                  <a:pt x="11187" y="9808"/>
                </a:cubicBezTo>
              </a:path>
            </a:pathLst>
          </a:cu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2" name="Google Shape;183;p8">
            <a:extLst>
              <a:ext uri="{FF2B5EF4-FFF2-40B4-BE49-F238E27FC236}">
                <a16:creationId xmlns:a16="http://schemas.microsoft.com/office/drawing/2014/main" id="{428A2A10-7A53-8773-F0C5-4A150FFBB734}"/>
              </a:ext>
            </a:extLst>
          </p:cNvPr>
          <p:cNvSpPr txBox="1"/>
          <p:nvPr/>
        </p:nvSpPr>
        <p:spPr>
          <a:xfrm>
            <a:off x="2300000" y="2664670"/>
            <a:ext cx="1400000" cy="168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[Client]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3" name="Google Shape;182;p8">
            <a:extLst>
              <a:ext uri="{FF2B5EF4-FFF2-40B4-BE49-F238E27FC236}">
                <a16:creationId xmlns:a16="http://schemas.microsoft.com/office/drawing/2014/main" id="{7C21B716-3889-8CA6-FEE4-5E8406852FC6}"/>
              </a:ext>
            </a:extLst>
          </p:cNvPr>
          <p:cNvSpPr/>
          <p:nvPr/>
        </p:nvSpPr>
        <p:spPr>
          <a:xfrm>
            <a:off x="708351" y="2150000"/>
            <a:ext cx="283298" cy="474670"/>
          </a:xfrm>
          <a:custGeom>
            <a:avLst/>
            <a:gdLst/>
            <a:ahLst/>
            <a:cxnLst/>
            <a:rect l="l" t="t" r="r" b="b"/>
            <a:pathLst>
              <a:path w="26381" h="43659" extrusionOk="0">
                <a:moveTo>
                  <a:pt x="11210" y="9732"/>
                </a:moveTo>
                <a:cubicBezTo>
                  <a:pt x="11190" y="9745"/>
                  <a:pt x="4882" y="9351"/>
                  <a:pt x="4862" y="9364"/>
                </a:cubicBezTo>
                <a:lnTo>
                  <a:pt x="0" y="21086"/>
                </a:lnTo>
                <a:lnTo>
                  <a:pt x="3789" y="22349"/>
                </a:lnTo>
                <a:lnTo>
                  <a:pt x="7160" y="13355"/>
                </a:lnTo>
                <a:cubicBezTo>
                  <a:pt x="7186" y="16993"/>
                  <a:pt x="7238" y="20168"/>
                  <a:pt x="7264" y="23806"/>
                </a:cubicBezTo>
                <a:lnTo>
                  <a:pt x="2389" y="43560"/>
                </a:lnTo>
                <a:lnTo>
                  <a:pt x="7383" y="43615"/>
                </a:lnTo>
                <a:lnTo>
                  <a:pt x="13572" y="26995"/>
                </a:lnTo>
                <a:lnTo>
                  <a:pt x="19486" y="43659"/>
                </a:lnTo>
                <a:lnTo>
                  <a:pt x="24543" y="43597"/>
                </a:lnTo>
                <a:lnTo>
                  <a:pt x="19599" y="23845"/>
                </a:lnTo>
                <a:cubicBezTo>
                  <a:pt x="19624" y="20283"/>
                  <a:pt x="19633" y="16991"/>
                  <a:pt x="19658" y="13429"/>
                </a:cubicBezTo>
                <a:lnTo>
                  <a:pt x="23287" y="22244"/>
                </a:lnTo>
                <a:lnTo>
                  <a:pt x="26381" y="20532"/>
                </a:lnTo>
                <a:lnTo>
                  <a:pt x="22135" y="9264"/>
                </a:lnTo>
                <a:lnTo>
                  <a:pt x="15096" y="9847"/>
                </a:lnTo>
                <a:cubicBezTo>
                  <a:pt x="18352" y="7696"/>
                  <a:pt x="18099" y="5804"/>
                  <a:pt x="18168" y="5042"/>
                </a:cubicBezTo>
                <a:lnTo>
                  <a:pt x="18168" y="5042"/>
                </a:lnTo>
                <a:cubicBezTo>
                  <a:pt x="18168" y="2375"/>
                  <a:pt x="15946" y="0"/>
                  <a:pt x="13279" y="0"/>
                </a:cubicBezTo>
                <a:cubicBezTo>
                  <a:pt x="10285" y="45"/>
                  <a:pt x="8210" y="2590"/>
                  <a:pt x="8091" y="4812"/>
                </a:cubicBezTo>
                <a:cubicBezTo>
                  <a:pt x="8057" y="6947"/>
                  <a:pt x="9286" y="8616"/>
                  <a:pt x="11187" y="9808"/>
                </a:cubicBezTo>
              </a:path>
            </a:pathLst>
          </a:cu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4" name="Google Shape;183;p8">
            <a:extLst>
              <a:ext uri="{FF2B5EF4-FFF2-40B4-BE49-F238E27FC236}">
                <a16:creationId xmlns:a16="http://schemas.microsoft.com/office/drawing/2014/main" id="{428A2A10-7A53-8773-F0C5-4A150FFBB734}"/>
              </a:ext>
            </a:extLst>
          </p:cNvPr>
          <p:cNvSpPr txBox="1"/>
          <p:nvPr/>
        </p:nvSpPr>
        <p:spPr>
          <a:xfrm>
            <a:off x="100000" y="2664670"/>
            <a:ext cx="1500000" cy="168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[Name] 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05" name="Connector 5004"/>
          <p:cNvCxnSpPr/>
          <p:nvPr/>
        </p:nvCxnSpPr>
        <p:spPr>
          <a:xfrm flipH="1">
            <a:off x="1850000" y="2893411"/>
            <a:ext cx="1150000" cy="1106589"/>
          </a:xfrm>
          <a:prstGeom prst="line">
            <a:avLst/>
          </a:prstGeom>
          <a:ln w="12700">
            <a:solidFill>
              <a:srgbClr val="1D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6" name="Connector 5005"/>
          <p:cNvCxnSpPr/>
          <p:nvPr/>
        </p:nvCxnSpPr>
        <p:spPr>
          <a:xfrm>
            <a:off x="3000000" y="2893411"/>
            <a:ext cx="1150000" cy="1106589"/>
          </a:xfrm>
          <a:prstGeom prst="line">
            <a:avLst/>
          </a:prstGeom>
          <a:ln w="12700">
            <a:solidFill>
              <a:srgbClr val="1D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7" name="Connector 5006"/>
          <p:cNvCxnSpPr/>
          <p:nvPr/>
        </p:nvCxnSpPr>
        <p:spPr>
          <a:xfrm>
            <a:off x="850000" y="2893411"/>
            <a:ext cx="1000000" cy="1106589"/>
          </a:xfrm>
          <a:prstGeom prst="line">
            <a:avLst/>
          </a:prstGeom>
          <a:ln w="12700">
            <a:solidFill>
              <a:srgbClr val="1D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8" name="TextBox 5007"/>
          <p:cNvSpPr txBox="1"/>
          <p:nvPr/>
        </p:nvSpPr>
        <p:spPr>
          <a:xfrm>
            <a:off x="2000000" y="3300000"/>
            <a:ext cx="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9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  <a:endParaRPr lang="en-GB" sz="900" dirty="0">
              <a:latin typeface="Arial"/>
            </a:endParaRPr>
          </a:p>
        </p:txBody>
      </p:sp>
      <p:sp>
        <p:nvSpPr>
          <p:cNvPr id="5009" name="TextBox 5008"/>
          <p:cNvSpPr txBox="1"/>
          <p:nvPr/>
        </p:nvSpPr>
        <p:spPr>
          <a:xfrm>
            <a:off x="3550000" y="3300000"/>
            <a:ext cx="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9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lang="en-GB" sz="900" dirty="0">
              <a:latin typeface="Arial"/>
            </a:endParaRPr>
          </a:p>
        </p:txBody>
      </p:sp>
      <p:sp>
        <p:nvSpPr>
          <p:cNvPr id="5010" name="TextBox 5009"/>
          <p:cNvSpPr txBox="1"/>
          <p:nvPr/>
        </p:nvSpPr>
        <p:spPr>
          <a:xfrm>
            <a:off x="800000" y="3300000"/>
            <a:ext cx="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9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  <a:endParaRPr lang="en-GB" sz="900" dirty="0">
              <a:latin typeface="Arial"/>
            </a:endParaRPr>
          </a:p>
        </p:txBody>
      </p:sp>
      <p:sp>
        <p:nvSpPr>
          <p:cNvPr id="2" name="Google Shape;185;p8">
            <a:extLst>
              <a:ext uri="{FF2B5EF4-FFF2-40B4-BE49-F238E27FC236}">
                <a16:creationId xmlns:a16="http://schemas.microsoft.com/office/drawing/2014/main" id="{A28E352B-108F-60BE-3165-6655665BBC61}"/>
              </a:ext>
            </a:extLst>
          </p:cNvPr>
          <p:cNvSpPr/>
          <p:nvPr/>
        </p:nvSpPr>
        <p:spPr>
          <a:xfrm>
            <a:off x="1098573" y="4000000"/>
            <a:ext cx="1502854" cy="594038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[Co A]</a:t>
            </a:r>
            <a:endParaRPr sz="1000" dirty="0">
              <a:solidFill>
                <a:srgbClr val="1D1A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85;p8">
            <a:extLst>
              <a:ext uri="{FF2B5EF4-FFF2-40B4-BE49-F238E27FC236}">
                <a16:creationId xmlns:a16="http://schemas.microsoft.com/office/drawing/2014/main" id="{A28E352B-108F-60BE-3165-6655665BBC61}"/>
              </a:ext>
            </a:extLst>
          </p:cNvPr>
          <p:cNvSpPr/>
          <p:nvPr/>
        </p:nvSpPr>
        <p:spPr>
          <a:xfrm>
            <a:off x="3398573" y="4000000"/>
            <a:ext cx="1502854" cy="594038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[Co B]</a:t>
            </a:r>
            <a:endParaRPr sz="1000" dirty="0">
              <a:solidFill>
                <a:srgbClr val="1D1A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1" name="TextBox 5010"/>
          <p:cNvSpPr txBox="1"/>
          <p:nvPr/>
        </p:nvSpPr>
        <p:spPr>
          <a:xfrm>
            <a:off x="1000000" y="4654038"/>
            <a:ext cx="1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900" b="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[Label]</a:t>
            </a:r>
            <a:endParaRPr lang="en-GB" sz="900" dirty="0">
              <a:latin typeface="Arial"/>
            </a:endParaRPr>
          </a:p>
          <a:p>
            <a:pPr algn="ctr">
              <a:buNone/>
            </a:pPr>
            <a:r>
              <a:rPr lang="en-GB" sz="900" b="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[Label]</a:t>
            </a:r>
            <a:endParaRPr lang="en-GB" sz="900" dirty="0">
              <a:latin typeface="Arial"/>
            </a:endParaRPr>
          </a:p>
        </p:txBody>
      </p:sp>
      <p:sp>
        <p:nvSpPr>
          <p:cNvPr id="5012" name="TextBox 5011"/>
          <p:cNvSpPr txBox="1"/>
          <p:nvPr/>
        </p:nvSpPr>
        <p:spPr>
          <a:xfrm>
            <a:off x="3300000" y="4654038"/>
            <a:ext cx="1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900" b="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[Label]</a:t>
            </a:r>
            <a:endParaRPr lang="en-GB" sz="900" dirty="0">
              <a:latin typeface="Arial"/>
            </a:endParaRPr>
          </a:p>
          <a:p>
            <a:pPr algn="ctr">
              <a:buNone/>
            </a:pPr>
            <a:r>
              <a:rPr lang="en-GB" sz="900" b="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[Label]</a:t>
            </a:r>
            <a:endParaRPr lang="en-GB" sz="9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8414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>
            <a:extLst>
              <a:ext uri="{FF2B5EF4-FFF2-40B4-BE49-F238E27FC236}">
                <a16:creationId xmlns:a16="http://schemas.microsoft.com/office/drawing/2014/main" id="{7FA7B9B2-3BCE-6521-CDB1-A11ACC2A5C7A}"/>
              </a:ext>
            </a:extLst>
          </p:cNvPr>
          <p:cNvSpPr txBox="1"/>
          <p:nvPr/>
        </p:nvSpPr>
        <p:spPr>
          <a:xfrm>
            <a:off x="11519381" y="6356331"/>
            <a:ext cx="381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000"/>
              <a:buFont typeface="Georgia"/>
              <a:buNone/>
              <a:tabLst/>
              <a:defRPr/>
            </a:pPr>
            <a:fld id="{00000000-1234-1234-1234-123412341234}" type="slidenum"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srgbClr val="1D1A17"/>
                </a:solidFill>
                <a:effectLst/>
                <a:uLnTx/>
                <a:uFillTx/>
                <a:latin typeface="Georgia"/>
                <a:ea typeface="Georgia"/>
                <a:cs typeface="Georgia"/>
                <a:sym typeface="Georgi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A17"/>
                </a:buClr>
                <a:buSzPts val="1000"/>
                <a:buFont typeface="Georgia"/>
                <a:buNone/>
                <a:tabLst/>
                <a:defRPr/>
              </a:pPr>
              <a:t>8</a:t>
            </a:fld>
            <a:endParaRPr kumimoji="0" sz="1000" b="1" i="0" u="none" strike="noStrike" kern="0" cap="none" spc="0" normalizeH="0" baseline="0" noProof="0">
              <a:ln>
                <a:noFill/>
              </a:ln>
              <a:solidFill>
                <a:srgbClr val="1D1A17"/>
              </a:solidFill>
              <a:effectLst/>
              <a:uLnTx/>
              <a:uFillTx/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5" name="Google Shape;125;p7">
            <a:extLst>
              <a:ext uri="{FF2B5EF4-FFF2-40B4-BE49-F238E27FC236}">
                <a16:creationId xmlns:a16="http://schemas.microsoft.com/office/drawing/2014/main" id="{20DC6387-E93D-30A9-3FD5-87363D6F94E3}"/>
              </a:ext>
            </a:extLst>
          </p:cNvPr>
          <p:cNvSpPr txBox="1"/>
          <p:nvPr/>
        </p:nvSpPr>
        <p:spPr>
          <a:xfrm>
            <a:off x="137334" y="389047"/>
            <a:ext cx="10762735" cy="28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80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3642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2800"/>
              <a:buFont typeface="Calibri"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CURRENT STRUCTURE (TRADING COMPANIES)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>
            <a:extLst>
              <a:ext uri="{FF2B5EF4-FFF2-40B4-BE49-F238E27FC236}">
                <a16:creationId xmlns:a16="http://schemas.microsoft.com/office/drawing/2014/main" id="{567F759B-5F5B-4A98-AB04-B11FCEFE4175}"/>
              </a:ext>
            </a:extLst>
          </p:cNvPr>
          <p:cNvSpPr txBox="1"/>
          <p:nvPr/>
        </p:nvSpPr>
        <p:spPr>
          <a:xfrm>
            <a:off x="5258867" y="1286744"/>
            <a:ext cx="5760000" cy="472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None/>
            </a:pPr>
            <a:r>
              <a:rPr lang="en-GB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TAX IMPLICATIONS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r>
              <a:rPr lang="en-GB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Inheritance Tax (“IHT”)</a:t>
            </a:r>
            <a:endParaRPr lang="en-GB" sz="1050" dirty="0">
              <a:latin typeface="Arial"/>
            </a:endParaRPr>
          </a:p>
          <a:p>
            <a:pPr marL="171450" indent="-171450" algn="just">
              <a:buFont typeface="Arial"/>
              <a:buChar char="•"/>
            </a:pPr>
            <a:r>
              <a:rPr lang="en-GB" sz="10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r>
              <a:rPr lang="en-GB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recommendation</a:t>
            </a:r>
            <a:endParaRPr lang="en-GB" sz="1050" dirty="0">
              <a:latin typeface="Arial"/>
            </a:endParaRPr>
          </a:p>
          <a:p>
            <a:pPr marL="171450" indent="-171450" algn="just">
              <a:buFont typeface="Arial"/>
              <a:buChar char="•"/>
            </a:pPr>
            <a:r>
              <a:rPr lang="en-GB" sz="10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50" dirty="0">
              <a:latin typeface="Arial"/>
            </a:endParaRPr>
          </a:p>
        </p:txBody>
      </p:sp>
      <p:sp>
        <p:nvSpPr>
          <p:cNvPr id="5007" name="Google Shape;182;p8">
            <a:extLst>
              <a:ext uri="{FF2B5EF4-FFF2-40B4-BE49-F238E27FC236}">
                <a16:creationId xmlns:a16="http://schemas.microsoft.com/office/drawing/2014/main" id="{7C21B716-3889-8CA6-FEE4-5E8406852FC6}"/>
              </a:ext>
            </a:extLst>
          </p:cNvPr>
          <p:cNvSpPr/>
          <p:nvPr/>
        </p:nvSpPr>
        <p:spPr>
          <a:xfrm>
            <a:off x="2708351" y="2150000"/>
            <a:ext cx="283298" cy="474670"/>
          </a:xfrm>
          <a:custGeom>
            <a:avLst/>
            <a:gdLst/>
            <a:ahLst/>
            <a:cxnLst/>
            <a:rect l="l" t="t" r="r" b="b"/>
            <a:pathLst>
              <a:path w="26381" h="43659" extrusionOk="0">
                <a:moveTo>
                  <a:pt x="11210" y="9732"/>
                </a:moveTo>
                <a:cubicBezTo>
                  <a:pt x="11190" y="9745"/>
                  <a:pt x="4882" y="9351"/>
                  <a:pt x="4862" y="9364"/>
                </a:cubicBezTo>
                <a:lnTo>
                  <a:pt x="0" y="21086"/>
                </a:lnTo>
                <a:lnTo>
                  <a:pt x="3789" y="22349"/>
                </a:lnTo>
                <a:lnTo>
                  <a:pt x="7160" y="13355"/>
                </a:lnTo>
                <a:cubicBezTo>
                  <a:pt x="7186" y="16993"/>
                  <a:pt x="7238" y="20168"/>
                  <a:pt x="7264" y="23806"/>
                </a:cubicBezTo>
                <a:lnTo>
                  <a:pt x="2389" y="43560"/>
                </a:lnTo>
                <a:lnTo>
                  <a:pt x="7383" y="43615"/>
                </a:lnTo>
                <a:lnTo>
                  <a:pt x="13572" y="26995"/>
                </a:lnTo>
                <a:lnTo>
                  <a:pt x="19486" y="43659"/>
                </a:lnTo>
                <a:lnTo>
                  <a:pt x="24543" y="43597"/>
                </a:lnTo>
                <a:lnTo>
                  <a:pt x="19599" y="23845"/>
                </a:lnTo>
                <a:cubicBezTo>
                  <a:pt x="19624" y="20283"/>
                  <a:pt x="19633" y="16991"/>
                  <a:pt x="19658" y="13429"/>
                </a:cubicBezTo>
                <a:lnTo>
                  <a:pt x="23287" y="22244"/>
                </a:lnTo>
                <a:lnTo>
                  <a:pt x="26381" y="20532"/>
                </a:lnTo>
                <a:lnTo>
                  <a:pt x="22135" y="9264"/>
                </a:lnTo>
                <a:lnTo>
                  <a:pt x="15096" y="9847"/>
                </a:lnTo>
                <a:cubicBezTo>
                  <a:pt x="18352" y="7696"/>
                  <a:pt x="18099" y="5804"/>
                  <a:pt x="18168" y="5042"/>
                </a:cubicBezTo>
                <a:lnTo>
                  <a:pt x="18168" y="5042"/>
                </a:lnTo>
                <a:cubicBezTo>
                  <a:pt x="18168" y="2375"/>
                  <a:pt x="15946" y="0"/>
                  <a:pt x="13279" y="0"/>
                </a:cubicBezTo>
                <a:cubicBezTo>
                  <a:pt x="10285" y="45"/>
                  <a:pt x="8210" y="2590"/>
                  <a:pt x="8091" y="4812"/>
                </a:cubicBezTo>
                <a:cubicBezTo>
                  <a:pt x="8057" y="6947"/>
                  <a:pt x="9286" y="8616"/>
                  <a:pt x="11187" y="9808"/>
                </a:cubicBezTo>
              </a:path>
            </a:pathLst>
          </a:cu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8" name="Google Shape;183;p8">
            <a:extLst>
              <a:ext uri="{FF2B5EF4-FFF2-40B4-BE49-F238E27FC236}">
                <a16:creationId xmlns:a16="http://schemas.microsoft.com/office/drawing/2014/main" id="{428A2A10-7A53-8773-F0C5-4A150FFBB734}"/>
              </a:ext>
            </a:extLst>
          </p:cNvPr>
          <p:cNvSpPr txBox="1"/>
          <p:nvPr/>
        </p:nvSpPr>
        <p:spPr>
          <a:xfrm>
            <a:off x="2150000" y="2664670"/>
            <a:ext cx="1400000" cy="168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[Client]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09" name="Connector 5008"/>
          <p:cNvCxnSpPr/>
          <p:nvPr/>
        </p:nvCxnSpPr>
        <p:spPr>
          <a:xfrm flipH="1">
            <a:off x="1700000" y="2893411"/>
            <a:ext cx="1150000" cy="1106589"/>
          </a:xfrm>
          <a:prstGeom prst="line">
            <a:avLst/>
          </a:prstGeom>
          <a:ln w="12700">
            <a:solidFill>
              <a:srgbClr val="1D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0" name="Connector 5009"/>
          <p:cNvCxnSpPr/>
          <p:nvPr/>
        </p:nvCxnSpPr>
        <p:spPr>
          <a:xfrm>
            <a:off x="2850000" y="2893411"/>
            <a:ext cx="1150000" cy="1106589"/>
          </a:xfrm>
          <a:prstGeom prst="line">
            <a:avLst/>
          </a:prstGeom>
          <a:ln w="12700">
            <a:solidFill>
              <a:srgbClr val="1D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Google Shape;185;p8">
            <a:extLst>
              <a:ext uri="{FF2B5EF4-FFF2-40B4-BE49-F238E27FC236}">
                <a16:creationId xmlns:a16="http://schemas.microsoft.com/office/drawing/2014/main" id="{A28E352B-108F-60BE-3165-6655665BBC61}"/>
              </a:ext>
            </a:extLst>
          </p:cNvPr>
          <p:cNvSpPr/>
          <p:nvPr/>
        </p:nvSpPr>
        <p:spPr>
          <a:xfrm>
            <a:off x="948573" y="4000000"/>
            <a:ext cx="1502854" cy="594038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[Co C]</a:t>
            </a:r>
            <a:endParaRPr sz="1000" dirty="0">
              <a:solidFill>
                <a:srgbClr val="1D1A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85;p8">
            <a:extLst>
              <a:ext uri="{FF2B5EF4-FFF2-40B4-BE49-F238E27FC236}">
                <a16:creationId xmlns:a16="http://schemas.microsoft.com/office/drawing/2014/main" id="{A28E352B-108F-60BE-3165-6655665BBC61}"/>
              </a:ext>
            </a:extLst>
          </p:cNvPr>
          <p:cNvSpPr/>
          <p:nvPr/>
        </p:nvSpPr>
        <p:spPr>
          <a:xfrm>
            <a:off x="3248573" y="4000000"/>
            <a:ext cx="1502854" cy="594038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[Co D]</a:t>
            </a:r>
            <a:endParaRPr sz="1000" dirty="0">
              <a:solidFill>
                <a:srgbClr val="1D1A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1" name="TextBox 5010"/>
          <p:cNvSpPr txBox="1"/>
          <p:nvPr/>
        </p:nvSpPr>
        <p:spPr>
          <a:xfrm>
            <a:off x="800000" y="4654038"/>
            <a:ext cx="1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900" b="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[Activity]</a:t>
            </a:r>
            <a:endParaRPr lang="en-GB" sz="900" dirty="0">
              <a:latin typeface="Arial"/>
            </a:endParaRPr>
          </a:p>
          <a:p>
            <a:pPr algn="ctr">
              <a:buNone/>
            </a:pPr>
            <a:r>
              <a:rPr lang="en-GB" sz="900" b="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Trading</a:t>
            </a:r>
            <a:endParaRPr lang="en-GB" sz="900" dirty="0">
              <a:latin typeface="Arial"/>
            </a:endParaRPr>
          </a:p>
        </p:txBody>
      </p:sp>
      <p:sp>
        <p:nvSpPr>
          <p:cNvPr id="5012" name="TextBox 5011"/>
          <p:cNvSpPr txBox="1"/>
          <p:nvPr/>
        </p:nvSpPr>
        <p:spPr>
          <a:xfrm>
            <a:off x="3100000" y="4654038"/>
            <a:ext cx="1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900" b="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[Activity]</a:t>
            </a:r>
            <a:endParaRPr lang="en-GB" sz="900" dirty="0">
              <a:latin typeface="Arial"/>
            </a:endParaRPr>
          </a:p>
          <a:p>
            <a:pPr algn="ctr">
              <a:buNone/>
            </a:pPr>
            <a:r>
              <a:rPr lang="en-GB" sz="900" b="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Trading</a:t>
            </a:r>
            <a:endParaRPr lang="en-GB" sz="900" dirty="0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/>
        </p:nvSpPr>
        <p:spPr>
          <a:xfrm>
            <a:off x="11519381" y="6356331"/>
            <a:ext cx="381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/>
              <a:buNone/>
            </a:pPr>
            <a:fld id="{00000000-1234-1234-1234-123412341234}" type="slidenum">
              <a:rPr lang="en-GB" sz="1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9</a:t>
            </a:fld>
            <a:endParaRPr sz="1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4" name="Google Shape;144;p9"/>
          <p:cNvSpPr txBox="1"/>
          <p:nvPr/>
        </p:nvSpPr>
        <p:spPr>
          <a:xfrm>
            <a:off x="3223490" y="2736523"/>
            <a:ext cx="5966692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GB" sz="6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PROPOSAL</a:t>
            </a:r>
            <a:endParaRPr sz="6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/>
          <p:nvPr/>
        </p:nvSpPr>
        <p:spPr>
          <a:xfrm>
            <a:off x="11519381" y="6356331"/>
            <a:ext cx="381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/>
              <a:buNone/>
            </a:pPr>
            <a:fld id="{00000000-1234-1234-1234-123412341234}" type="slidenum">
              <a:rPr lang="en-GB" sz="1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10</a:t>
            </a:fld>
            <a:endParaRPr sz="1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7" name="Google Shape;217;p13"/>
          <p:cNvSpPr txBox="1"/>
          <p:nvPr/>
        </p:nvSpPr>
        <p:spPr>
          <a:xfrm>
            <a:off x="3112654" y="2634956"/>
            <a:ext cx="5966692" cy="2335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6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6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[PROPOSAL SECTION]</a:t>
            </a:r>
            <a:endParaRPr sz="4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"/>
          <p:cNvSpPr txBox="1"/>
          <p:nvPr/>
        </p:nvSpPr>
        <p:spPr>
          <a:xfrm>
            <a:off x="11519381" y="6356331"/>
            <a:ext cx="381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/>
              <a:buNone/>
            </a:pPr>
            <a:fld id="{00000000-1234-1234-1234-123412341234}" type="slidenum">
              <a:rPr lang="en-GB" sz="1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11</a:t>
            </a:fld>
            <a:endParaRPr sz="1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634616" y="356770"/>
            <a:ext cx="10762735" cy="28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800" rIns="0" bIns="0" anchor="ctr" anchorCtr="0">
            <a:noAutofit/>
          </a:bodyPr>
          <a:lstStyle/>
          <a:p>
            <a:pPr marL="0" marR="0" lvl="0" indent="0" algn="l" rtl="0">
              <a:lnSpc>
                <a:spcPct val="1036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GB" sz="2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[PROPOSAL SECTION]</a:t>
            </a:r>
            <a:br>
              <a:rPr lang="en-GB" sz="2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4"/>
          <p:cNvSpPr txBox="1"/>
          <p:nvPr/>
        </p:nvSpPr>
        <p:spPr>
          <a:xfrm>
            <a:off x="6205125" y="640974"/>
            <a:ext cx="5764800" cy="548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None/>
            </a:pPr>
            <a:r>
              <a:rPr lang="en-GB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[HEADING]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r>
              <a:rPr lang="en-GB" sz="10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</p:txBody>
      </p:sp>
      <p:sp>
        <p:nvSpPr>
          <p:cNvPr id="5" name="Google Shape;182;p8">
            <a:extLst>
              <a:ext uri="{FF2B5EF4-FFF2-40B4-BE49-F238E27FC236}">
                <a16:creationId xmlns:a16="http://schemas.microsoft.com/office/drawing/2014/main" id="{E4FF569D-6AF3-9B21-C156-3226B2E35144}"/>
              </a:ext>
            </a:extLst>
          </p:cNvPr>
          <p:cNvSpPr/>
          <p:nvPr/>
        </p:nvSpPr>
        <p:spPr>
          <a:xfrm>
            <a:off x="1008351" y="1750000"/>
            <a:ext cx="283298" cy="474670"/>
          </a:xfrm>
          <a:custGeom>
            <a:avLst/>
            <a:gdLst/>
            <a:ahLst/>
            <a:cxnLst/>
            <a:rect l="l" t="t" r="r" b="b"/>
            <a:pathLst>
              <a:path w="26381" h="43659" extrusionOk="0">
                <a:moveTo>
                  <a:pt x="11210" y="9732"/>
                </a:moveTo>
                <a:cubicBezTo>
                  <a:pt x="11190" y="9745"/>
                  <a:pt x="4882" y="9351"/>
                  <a:pt x="4862" y="9364"/>
                </a:cubicBezTo>
                <a:lnTo>
                  <a:pt x="0" y="21086"/>
                </a:lnTo>
                <a:lnTo>
                  <a:pt x="3789" y="22349"/>
                </a:lnTo>
                <a:lnTo>
                  <a:pt x="7160" y="13355"/>
                </a:lnTo>
                <a:cubicBezTo>
                  <a:pt x="7186" y="16993"/>
                  <a:pt x="7238" y="20168"/>
                  <a:pt x="7264" y="23806"/>
                </a:cubicBezTo>
                <a:lnTo>
                  <a:pt x="2389" y="43560"/>
                </a:lnTo>
                <a:lnTo>
                  <a:pt x="7383" y="43615"/>
                </a:lnTo>
                <a:lnTo>
                  <a:pt x="13572" y="26995"/>
                </a:lnTo>
                <a:lnTo>
                  <a:pt x="19486" y="43659"/>
                </a:lnTo>
                <a:lnTo>
                  <a:pt x="24543" y="43597"/>
                </a:lnTo>
                <a:lnTo>
                  <a:pt x="19599" y="23845"/>
                </a:lnTo>
                <a:cubicBezTo>
                  <a:pt x="19624" y="20283"/>
                  <a:pt x="19633" y="16991"/>
                  <a:pt x="19658" y="13429"/>
                </a:cubicBezTo>
                <a:lnTo>
                  <a:pt x="23287" y="22244"/>
                </a:lnTo>
                <a:lnTo>
                  <a:pt x="26381" y="20532"/>
                </a:lnTo>
                <a:lnTo>
                  <a:pt x="22135" y="9264"/>
                </a:lnTo>
                <a:lnTo>
                  <a:pt x="15096" y="9847"/>
                </a:lnTo>
                <a:cubicBezTo>
                  <a:pt x="18352" y="7696"/>
                  <a:pt x="18099" y="5804"/>
                  <a:pt x="18168" y="5042"/>
                </a:cubicBezTo>
                <a:lnTo>
                  <a:pt x="18168" y="5042"/>
                </a:lnTo>
                <a:cubicBezTo>
                  <a:pt x="18168" y="2375"/>
                  <a:pt x="15946" y="0"/>
                  <a:pt x="13279" y="0"/>
                </a:cubicBezTo>
                <a:cubicBezTo>
                  <a:pt x="10285" y="45"/>
                  <a:pt x="8210" y="2590"/>
                  <a:pt x="8091" y="4812"/>
                </a:cubicBezTo>
                <a:cubicBezTo>
                  <a:pt x="8057" y="6947"/>
                  <a:pt x="9286" y="8616"/>
                  <a:pt x="11187" y="9808"/>
                </a:cubicBezTo>
              </a:path>
            </a:pathLst>
          </a:cu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8">
            <a:extLst>
              <a:ext uri="{FF2B5EF4-FFF2-40B4-BE49-F238E27FC236}">
                <a16:creationId xmlns:a16="http://schemas.microsoft.com/office/drawing/2014/main" id="{B4D24273-FED3-01BD-98B4-327F53319999}"/>
              </a:ext>
            </a:extLst>
          </p:cNvPr>
          <p:cNvSpPr txBox="1"/>
          <p:nvPr/>
        </p:nvSpPr>
        <p:spPr>
          <a:xfrm>
            <a:off x="450000" y="2264670"/>
            <a:ext cx="1400000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[Label]</a:t>
            </a:r>
            <a:br>
              <a:rPr lang="en-GB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82;p8">
            <a:extLst>
              <a:ext uri="{FF2B5EF4-FFF2-40B4-BE49-F238E27FC236}">
                <a16:creationId xmlns:a16="http://schemas.microsoft.com/office/drawing/2014/main" id="{F1C1076A-C780-82BD-8889-0510C33C581A}"/>
              </a:ext>
            </a:extLst>
          </p:cNvPr>
          <p:cNvSpPr/>
          <p:nvPr/>
        </p:nvSpPr>
        <p:spPr>
          <a:xfrm>
            <a:off x="2408351" y="1750000"/>
            <a:ext cx="283298" cy="474670"/>
          </a:xfrm>
          <a:custGeom>
            <a:avLst/>
            <a:gdLst/>
            <a:ahLst/>
            <a:cxnLst/>
            <a:rect l="l" t="t" r="r" b="b"/>
            <a:pathLst>
              <a:path w="26381" h="43659" extrusionOk="0">
                <a:moveTo>
                  <a:pt x="11210" y="9732"/>
                </a:moveTo>
                <a:cubicBezTo>
                  <a:pt x="11190" y="9745"/>
                  <a:pt x="4882" y="9351"/>
                  <a:pt x="4862" y="9364"/>
                </a:cubicBezTo>
                <a:lnTo>
                  <a:pt x="0" y="21086"/>
                </a:lnTo>
                <a:lnTo>
                  <a:pt x="3789" y="22349"/>
                </a:lnTo>
                <a:lnTo>
                  <a:pt x="7160" y="13355"/>
                </a:lnTo>
                <a:cubicBezTo>
                  <a:pt x="7186" y="16993"/>
                  <a:pt x="7238" y="20168"/>
                  <a:pt x="7264" y="23806"/>
                </a:cubicBezTo>
                <a:lnTo>
                  <a:pt x="2389" y="43560"/>
                </a:lnTo>
                <a:lnTo>
                  <a:pt x="7383" y="43615"/>
                </a:lnTo>
                <a:lnTo>
                  <a:pt x="13572" y="26995"/>
                </a:lnTo>
                <a:lnTo>
                  <a:pt x="19486" y="43659"/>
                </a:lnTo>
                <a:lnTo>
                  <a:pt x="24543" y="43597"/>
                </a:lnTo>
                <a:lnTo>
                  <a:pt x="19599" y="23845"/>
                </a:lnTo>
                <a:cubicBezTo>
                  <a:pt x="19624" y="20283"/>
                  <a:pt x="19633" y="16991"/>
                  <a:pt x="19658" y="13429"/>
                </a:cubicBezTo>
                <a:lnTo>
                  <a:pt x="23287" y="22244"/>
                </a:lnTo>
                <a:lnTo>
                  <a:pt x="26381" y="20532"/>
                </a:lnTo>
                <a:lnTo>
                  <a:pt x="22135" y="9264"/>
                </a:lnTo>
                <a:lnTo>
                  <a:pt x="15096" y="9847"/>
                </a:lnTo>
                <a:cubicBezTo>
                  <a:pt x="18352" y="7696"/>
                  <a:pt x="18099" y="5804"/>
                  <a:pt x="18168" y="5042"/>
                </a:cubicBezTo>
                <a:lnTo>
                  <a:pt x="18168" y="5042"/>
                </a:lnTo>
                <a:cubicBezTo>
                  <a:pt x="18168" y="2375"/>
                  <a:pt x="15946" y="0"/>
                  <a:pt x="13279" y="0"/>
                </a:cubicBezTo>
                <a:cubicBezTo>
                  <a:pt x="10285" y="45"/>
                  <a:pt x="8210" y="2590"/>
                  <a:pt x="8091" y="4812"/>
                </a:cubicBezTo>
                <a:cubicBezTo>
                  <a:pt x="8057" y="6947"/>
                  <a:pt x="9286" y="8616"/>
                  <a:pt x="11187" y="9808"/>
                </a:cubicBezTo>
              </a:path>
            </a:pathLst>
          </a:cu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83;p8">
            <a:extLst>
              <a:ext uri="{FF2B5EF4-FFF2-40B4-BE49-F238E27FC236}">
                <a16:creationId xmlns:a16="http://schemas.microsoft.com/office/drawing/2014/main" id="{4369A8BD-233D-5D8A-94E7-87222D7CF922}"/>
              </a:ext>
            </a:extLst>
          </p:cNvPr>
          <p:cNvSpPr txBox="1"/>
          <p:nvPr/>
        </p:nvSpPr>
        <p:spPr>
          <a:xfrm>
            <a:off x="1850000" y="2264670"/>
            <a:ext cx="1400000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[Name] – Ordinary Shares</a:t>
            </a:r>
            <a:br>
              <a:rPr lang="en-GB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28;p14">
            <a:extLst>
              <a:ext uri="{FF2B5EF4-FFF2-40B4-BE49-F238E27FC236}">
                <a16:creationId xmlns:a16="http://schemas.microsoft.com/office/drawing/2014/main" id="{A426ED20-33CC-4BC9-0553-E3A2C8E6BD58}"/>
              </a:ext>
            </a:extLst>
          </p:cNvPr>
          <p:cNvSpPr/>
          <p:nvPr/>
        </p:nvSpPr>
        <p:spPr>
          <a:xfrm>
            <a:off x="3770821" y="1700000"/>
            <a:ext cx="1158357" cy="91476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 w="12700" cap="flat" cmpd="sng">
            <a:solidFill>
              <a:srgbClr val="625A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eorgia"/>
              <a:buNone/>
            </a:pPr>
            <a:r>
              <a:rPr lang="en-GB" sz="1100" b="1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[Label]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B3C850-B23B-176C-A78B-87FEE1E9076B}"/>
              </a:ext>
            </a:extLst>
          </p:cNvPr>
          <p:cNvSpPr txBox="1"/>
          <p:nvPr/>
        </p:nvSpPr>
        <p:spPr>
          <a:xfrm>
            <a:off x="3650000" y="1420000"/>
            <a:ext cx="14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[Label]</a:t>
            </a:r>
            <a:endParaRPr lang="en-GB" sz="900" dirty="0">
              <a:latin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882849-18F7-5148-69BC-189028858EE7}"/>
              </a:ext>
            </a:extLst>
          </p:cNvPr>
          <p:cNvSpPr txBox="1"/>
          <p:nvPr/>
        </p:nvSpPr>
        <p:spPr>
          <a:xfrm>
            <a:off x="3650000" y="2654760"/>
            <a:ext cx="14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[Label]</a:t>
            </a:r>
            <a:endParaRPr lang="en-GB" sz="900" dirty="0"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2C8095-53B8-4B89-14A4-25CE8857D660}"/>
              </a:ext>
            </a:extLst>
          </p:cNvPr>
          <p:cNvSpPr txBox="1"/>
          <p:nvPr/>
        </p:nvSpPr>
        <p:spPr>
          <a:xfrm>
            <a:off x="5050000" y="1950000"/>
            <a:ext cx="11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8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Beneficiaries –</a:t>
            </a:r>
            <a:endParaRPr lang="en-GB" sz="850" dirty="0">
              <a:latin typeface="Arial"/>
            </a:endParaRPr>
          </a:p>
          <a:p>
            <a:pPr algn="ctr">
              <a:buNone/>
            </a:pPr>
            <a:r>
              <a:rPr lang="en-GB" sz="8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[Name] &amp;</a:t>
            </a:r>
            <a:endParaRPr lang="en-GB" sz="850" dirty="0">
              <a:latin typeface="Arial"/>
            </a:endParaRPr>
          </a:p>
          <a:p>
            <a:pPr algn="ctr">
              <a:buNone/>
            </a:pPr>
            <a:r>
              <a:rPr lang="en-GB" sz="8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future</a:t>
            </a:r>
            <a:endParaRPr lang="en-GB" sz="850" dirty="0">
              <a:latin typeface="Arial"/>
            </a:endParaRPr>
          </a:p>
          <a:p>
            <a:pPr algn="ctr">
              <a:buNone/>
            </a:pPr>
            <a:r>
              <a:rPr lang="en-GB" sz="8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generations</a:t>
            </a:r>
            <a:endParaRPr lang="en-GB" sz="850" dirty="0">
              <a:latin typeface="Arial"/>
            </a:endParaRPr>
          </a:p>
        </p:txBody>
      </p:sp>
      <p:cxnSp>
        <p:nvCxnSpPr>
          <p:cNvPr id="13" name="Connector 5030">
            <a:extLst>
              <a:ext uri="{FF2B5EF4-FFF2-40B4-BE49-F238E27FC236}">
                <a16:creationId xmlns:a16="http://schemas.microsoft.com/office/drawing/2014/main" id="{4CC922B1-34CA-454A-23CB-78CF21343430}"/>
              </a:ext>
            </a:extLst>
          </p:cNvPr>
          <p:cNvCxnSpPr/>
          <p:nvPr/>
        </p:nvCxnSpPr>
        <p:spPr>
          <a:xfrm>
            <a:off x="4699589" y="2157380"/>
            <a:ext cx="350411" cy="0"/>
          </a:xfrm>
          <a:prstGeom prst="line">
            <a:avLst/>
          </a:prstGeom>
          <a:ln w="12700">
            <a:solidFill>
              <a:srgbClr val="1D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5031">
            <a:extLst>
              <a:ext uri="{FF2B5EF4-FFF2-40B4-BE49-F238E27FC236}">
                <a16:creationId xmlns:a16="http://schemas.microsoft.com/office/drawing/2014/main" id="{6E49AC1E-53BF-ED52-E9D9-2B7A6D67C937}"/>
              </a:ext>
            </a:extLst>
          </p:cNvPr>
          <p:cNvCxnSpPr/>
          <p:nvPr/>
        </p:nvCxnSpPr>
        <p:spPr>
          <a:xfrm>
            <a:off x="1150000" y="2664670"/>
            <a:ext cx="1750000" cy="835330"/>
          </a:xfrm>
          <a:prstGeom prst="line">
            <a:avLst/>
          </a:prstGeom>
          <a:ln w="12700">
            <a:solidFill>
              <a:srgbClr val="1D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5032">
            <a:extLst>
              <a:ext uri="{FF2B5EF4-FFF2-40B4-BE49-F238E27FC236}">
                <a16:creationId xmlns:a16="http://schemas.microsoft.com/office/drawing/2014/main" id="{3E44E242-532A-C508-FDFA-259ABDA0D807}"/>
              </a:ext>
            </a:extLst>
          </p:cNvPr>
          <p:cNvCxnSpPr/>
          <p:nvPr/>
        </p:nvCxnSpPr>
        <p:spPr>
          <a:xfrm>
            <a:off x="2550000" y="2664670"/>
            <a:ext cx="350000" cy="835330"/>
          </a:xfrm>
          <a:prstGeom prst="line">
            <a:avLst/>
          </a:prstGeom>
          <a:ln w="12700">
            <a:solidFill>
              <a:srgbClr val="1D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5033">
            <a:extLst>
              <a:ext uri="{FF2B5EF4-FFF2-40B4-BE49-F238E27FC236}">
                <a16:creationId xmlns:a16="http://schemas.microsoft.com/office/drawing/2014/main" id="{58589741-6F8D-E3A4-30DE-6041415160C5}"/>
              </a:ext>
            </a:extLst>
          </p:cNvPr>
          <p:cNvCxnSpPr/>
          <p:nvPr/>
        </p:nvCxnSpPr>
        <p:spPr>
          <a:xfrm flipH="1">
            <a:off x="2900000" y="2914760"/>
            <a:ext cx="1450000" cy="585240"/>
          </a:xfrm>
          <a:prstGeom prst="line">
            <a:avLst/>
          </a:prstGeom>
          <a:ln w="12700">
            <a:solidFill>
              <a:srgbClr val="1D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85;p8">
            <a:extLst>
              <a:ext uri="{FF2B5EF4-FFF2-40B4-BE49-F238E27FC236}">
                <a16:creationId xmlns:a16="http://schemas.microsoft.com/office/drawing/2014/main" id="{2A5FBE7D-29C6-FD30-0E81-975CA3F53A6D}"/>
              </a:ext>
            </a:extLst>
          </p:cNvPr>
          <p:cNvSpPr/>
          <p:nvPr/>
        </p:nvSpPr>
        <p:spPr>
          <a:xfrm>
            <a:off x="2148573" y="3500000"/>
            <a:ext cx="1502854" cy="594038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[Label]</a:t>
            </a:r>
            <a:endParaRPr sz="1000" dirty="0">
              <a:solidFill>
                <a:srgbClr val="1D1A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Connector 5034">
            <a:extLst>
              <a:ext uri="{FF2B5EF4-FFF2-40B4-BE49-F238E27FC236}">
                <a16:creationId xmlns:a16="http://schemas.microsoft.com/office/drawing/2014/main" id="{DA20250B-36E1-36E5-FE5B-69BA74D6A094}"/>
              </a:ext>
            </a:extLst>
          </p:cNvPr>
          <p:cNvCxnSpPr/>
          <p:nvPr/>
        </p:nvCxnSpPr>
        <p:spPr>
          <a:xfrm flipH="1">
            <a:off x="1750000" y="4094038"/>
            <a:ext cx="1150000" cy="805962"/>
          </a:xfrm>
          <a:prstGeom prst="line">
            <a:avLst/>
          </a:prstGeom>
          <a:ln w="12700">
            <a:solidFill>
              <a:srgbClr val="1D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5035">
            <a:extLst>
              <a:ext uri="{FF2B5EF4-FFF2-40B4-BE49-F238E27FC236}">
                <a16:creationId xmlns:a16="http://schemas.microsoft.com/office/drawing/2014/main" id="{2E1A4AEB-B993-E784-90A5-9F1121FDF8FA}"/>
              </a:ext>
            </a:extLst>
          </p:cNvPr>
          <p:cNvCxnSpPr/>
          <p:nvPr/>
        </p:nvCxnSpPr>
        <p:spPr>
          <a:xfrm>
            <a:off x="2900000" y="4094038"/>
            <a:ext cx="1150000" cy="805962"/>
          </a:xfrm>
          <a:prstGeom prst="line">
            <a:avLst/>
          </a:prstGeom>
          <a:ln w="12700">
            <a:solidFill>
              <a:srgbClr val="1D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Google Shape;185;p8">
            <a:extLst>
              <a:ext uri="{FF2B5EF4-FFF2-40B4-BE49-F238E27FC236}">
                <a16:creationId xmlns:a16="http://schemas.microsoft.com/office/drawing/2014/main" id="{C6236EB2-C4D7-5883-FC3A-A9385D0CE811}"/>
              </a:ext>
            </a:extLst>
          </p:cNvPr>
          <p:cNvSpPr/>
          <p:nvPr/>
        </p:nvSpPr>
        <p:spPr>
          <a:xfrm>
            <a:off x="998573" y="4900000"/>
            <a:ext cx="1502854" cy="594038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[Co A]</a:t>
            </a:r>
            <a:endParaRPr sz="1000" dirty="0">
              <a:solidFill>
                <a:srgbClr val="1D1A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85;p8">
            <a:extLst>
              <a:ext uri="{FF2B5EF4-FFF2-40B4-BE49-F238E27FC236}">
                <a16:creationId xmlns:a16="http://schemas.microsoft.com/office/drawing/2014/main" id="{294D70B1-51D1-9A6B-1F11-8FE5EFCFD604}"/>
              </a:ext>
            </a:extLst>
          </p:cNvPr>
          <p:cNvSpPr/>
          <p:nvPr/>
        </p:nvSpPr>
        <p:spPr>
          <a:xfrm>
            <a:off x="3298573" y="4900000"/>
            <a:ext cx="1502854" cy="594038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[Co B]</a:t>
            </a:r>
            <a:endParaRPr sz="1000" dirty="0">
              <a:solidFill>
                <a:srgbClr val="1D1A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"/>
          <p:cNvSpPr txBox="1"/>
          <p:nvPr/>
        </p:nvSpPr>
        <p:spPr>
          <a:xfrm>
            <a:off x="11519381" y="6356331"/>
            <a:ext cx="381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/>
              <a:buNone/>
            </a:pPr>
            <a:fld id="{00000000-1234-1234-1234-123412341234}" type="slidenum">
              <a:rPr lang="en-GB" sz="1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12</a:t>
            </a:fld>
            <a:endParaRPr sz="1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634616" y="356770"/>
            <a:ext cx="10762735" cy="28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800" rIns="0" bIns="0" anchor="ctr" anchorCtr="0">
            <a:noAutofit/>
          </a:bodyPr>
          <a:lstStyle/>
          <a:p>
            <a:pPr marL="0" marR="0" lvl="0" indent="0" algn="l" rtl="0">
              <a:lnSpc>
                <a:spcPct val="1036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GB" sz="2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[PROPOSAL SECTION]</a:t>
            </a:r>
            <a:br>
              <a:rPr lang="en-GB" sz="2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4"/>
          <p:cNvSpPr txBox="1"/>
          <p:nvPr/>
        </p:nvSpPr>
        <p:spPr>
          <a:xfrm>
            <a:off x="423525" y="1073626"/>
            <a:ext cx="5656800" cy="5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None/>
            </a:pPr>
            <a:r>
              <a:rPr lang="en-GB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[HEADING]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r>
              <a:rPr lang="en-GB" sz="10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</p:txBody>
      </p:sp>
      <p:sp>
        <p:nvSpPr>
          <p:cNvPr id="9001" name="Google Shape;245;p14"/>
          <p:cNvSpPr txBox="1"/>
          <p:nvPr/>
        </p:nvSpPr>
        <p:spPr>
          <a:xfrm>
            <a:off x="6148223" y="1073626"/>
            <a:ext cx="5656800" cy="5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None/>
            </a:pPr>
            <a:r>
              <a:rPr lang="en-GB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NOW?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r>
              <a:rPr lang="en-GB" sz="10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"/>
          <p:cNvSpPr txBox="1"/>
          <p:nvPr/>
        </p:nvSpPr>
        <p:spPr>
          <a:xfrm>
            <a:off x="11519381" y="6356331"/>
            <a:ext cx="381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/>
              <a:buNone/>
            </a:pPr>
            <a:fld id="{00000000-1234-1234-1234-123412341234}" type="slidenum">
              <a:rPr lang="en-GB" sz="1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13</a:t>
            </a:fld>
            <a:endParaRPr sz="1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1" name="Google Shape;251;p15"/>
          <p:cNvSpPr txBox="1"/>
          <p:nvPr/>
        </p:nvSpPr>
        <p:spPr>
          <a:xfrm>
            <a:off x="634616" y="356770"/>
            <a:ext cx="10762735" cy="28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800" rIns="0" bIns="0" anchor="ctr" anchorCtr="0">
            <a:noAutofit/>
          </a:bodyPr>
          <a:lstStyle/>
          <a:p>
            <a:pPr lvl="0">
              <a:lnSpc>
                <a:spcPct val="103642"/>
              </a:lnSpc>
              <a:buClr>
                <a:schemeClr val="dk1"/>
              </a:buClr>
              <a:buSzPts val="2800"/>
            </a:pPr>
            <a:r>
              <a:rPr lang="en-GB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[PROPOSAL SECTION]</a:t>
            </a:r>
            <a:br>
              <a:rPr lang="en-GB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lt1"/>
              </a:solidFill>
            </a:endParaRPr>
          </a:p>
        </p:txBody>
      </p:sp>
      <p:sp>
        <p:nvSpPr>
          <p:cNvPr id="252" name="Google Shape;252;p15"/>
          <p:cNvSpPr txBox="1"/>
          <p:nvPr/>
        </p:nvSpPr>
        <p:spPr>
          <a:xfrm>
            <a:off x="423525" y="1073626"/>
            <a:ext cx="5656800" cy="4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None/>
            </a:pPr>
            <a:r>
              <a:rPr lang="en-GB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[HEADING]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r>
              <a:rPr lang="en-GB" sz="10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r>
              <a:rPr lang="en-GB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[HEADING]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r>
              <a:rPr lang="en-GB" sz="10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</p:txBody>
      </p:sp>
      <p:graphicFrame>
        <p:nvGraphicFramePr>
          <p:cNvPr id="253" name="Table 2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101624"/>
              </p:ext>
            </p:extLst>
          </p:nvPr>
        </p:nvGraphicFramePr>
        <p:xfrm>
          <a:off x="6250000" y="1150000"/>
          <a:ext cx="5500000" cy="37797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99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£</a:t>
                      </a:r>
                    </a:p>
                  </a:txBody>
                  <a:tcPr marL="70000" marR="70000" anchor="ctr">
                    <a:solidFill>
                      <a:srgbClr val="1D1A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[Column]</a:t>
                      </a:r>
                    </a:p>
                  </a:txBody>
                  <a:tcPr marL="70000" marR="70000" anchor="ctr">
                    <a:solidFill>
                      <a:srgbClr val="1D1A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[Column]</a:t>
                      </a:r>
                    </a:p>
                  </a:txBody>
                  <a:tcPr marL="70000" marR="70000" anchor="ctr">
                    <a:solidFill>
                      <a:srgbClr val="1D1A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[Column]</a:t>
                      </a:r>
                    </a:p>
                  </a:txBody>
                  <a:tcPr marL="70000" marR="70000" anchor="ctr">
                    <a:solidFill>
                      <a:srgbClr val="1D1A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99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[Item]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99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[Item]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99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[Item]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99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D1A17"/>
                          </a:solidFill>
                          <a:latin typeface="Arial"/>
                        </a:rPr>
                        <a:t>[Item]</a:t>
                      </a:r>
                    </a:p>
                  </a:txBody>
                  <a:tcPr marL="70000" marR="70000" anchor="ctr">
                    <a:solidFill>
                      <a:srgbClr val="F6E9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6E9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6E9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6E9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99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[Item]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99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[Item]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999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D1A17"/>
                          </a:solidFill>
                          <a:latin typeface="Arial"/>
                        </a:rPr>
                        <a:t>[Item]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99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D1A17"/>
                          </a:solidFill>
                          <a:latin typeface="Arial"/>
                        </a:rPr>
                        <a:t>[Item]</a:t>
                      </a:r>
                    </a:p>
                  </a:txBody>
                  <a:tcPr marL="70000" marR="70000" anchor="ctr">
                    <a:solidFill>
                      <a:srgbClr val="F6E9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6E9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6E9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6E9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99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[Item]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99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[Item]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99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D1A17"/>
                          </a:solidFill>
                          <a:latin typeface="Arial"/>
                        </a:rPr>
                        <a:t>[Item]</a:t>
                      </a:r>
                    </a:p>
                  </a:txBody>
                  <a:tcPr marL="70000" marR="70000" anchor="ctr">
                    <a:solidFill>
                      <a:srgbClr val="F6E9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6E9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6E9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F6E9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99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D1A17"/>
                          </a:solidFill>
                          <a:latin typeface="Arial"/>
                        </a:rPr>
                        <a:t>[Item]</a:t>
                      </a:r>
                    </a:p>
                  </a:txBody>
                  <a:tcPr marL="70000" marR="70000" anchor="ctr">
                    <a:solidFill>
                      <a:srgbClr val="ECDFD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–</a:t>
                      </a:r>
                      <a:endParaRPr/>
                    </a:p>
                  </a:txBody>
                  <a:tcPr marL="70000" marR="70000" anchor="ctr">
                    <a:solidFill>
                      <a:srgbClr val="ECDFD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–</a:t>
                      </a:r>
                      <a:endParaRPr/>
                    </a:p>
                  </a:txBody>
                  <a:tcPr marL="70000" marR="70000" anchor="ctr">
                    <a:solidFill>
                      <a:srgbClr val="ECDFD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dirty="0">
                          <a:solidFill>
                            <a:srgbClr val="1D1A17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0000" marR="70000" anchor="ctr">
                    <a:solidFill>
                      <a:srgbClr val="ECDF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54" name="TextBox 253"/>
          <p:cNvSpPr txBox="1"/>
          <p:nvPr/>
        </p:nvSpPr>
        <p:spPr>
          <a:xfrm>
            <a:off x="6250000" y="5080000"/>
            <a:ext cx="5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sz="850" b="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85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9009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"/>
          <p:cNvSpPr txBox="1"/>
          <p:nvPr/>
        </p:nvSpPr>
        <p:spPr>
          <a:xfrm>
            <a:off x="11519381" y="6356331"/>
            <a:ext cx="381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/>
              <a:buNone/>
            </a:pPr>
            <a:fld id="{00000000-1234-1234-1234-123412341234}" type="slidenum">
              <a:rPr lang="en-GB" sz="1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14</a:t>
            </a:fld>
            <a:endParaRPr sz="1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1" name="Google Shape;251;p15"/>
          <p:cNvSpPr txBox="1"/>
          <p:nvPr/>
        </p:nvSpPr>
        <p:spPr>
          <a:xfrm>
            <a:off x="634616" y="356770"/>
            <a:ext cx="10762735" cy="28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800" rIns="0" bIns="0" anchor="ctr" anchorCtr="0">
            <a:noAutofit/>
          </a:bodyPr>
          <a:lstStyle/>
          <a:p>
            <a:pPr lvl="0">
              <a:lnSpc>
                <a:spcPct val="103642"/>
              </a:lnSpc>
              <a:buClr>
                <a:schemeClr val="dk1"/>
              </a:buClr>
              <a:buSzPts val="2800"/>
            </a:pPr>
            <a:r>
              <a:rPr lang="en-GB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[PROPOSAL SECTION]</a:t>
            </a:r>
            <a:br>
              <a:rPr lang="en-GB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lt1"/>
              </a:solidFill>
            </a:endParaRPr>
          </a:p>
        </p:txBody>
      </p:sp>
      <p:sp>
        <p:nvSpPr>
          <p:cNvPr id="252" name="Google Shape;252;p15"/>
          <p:cNvSpPr txBox="1"/>
          <p:nvPr/>
        </p:nvSpPr>
        <p:spPr>
          <a:xfrm>
            <a:off x="423525" y="1073626"/>
            <a:ext cx="5656800" cy="4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None/>
            </a:pPr>
            <a:r>
              <a:rPr lang="en-GB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TAX IMPLICATIONS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r>
              <a:rPr lang="en-GB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Inheritance Tax (IHT)</a:t>
            </a:r>
            <a:endParaRPr lang="en-GB" sz="1050" dirty="0">
              <a:latin typeface="Arial"/>
            </a:endParaRPr>
          </a:p>
          <a:p>
            <a:pPr marL="171450" indent="-171450" algn="just">
              <a:buFont typeface="Arial"/>
              <a:buChar char="•"/>
            </a:pPr>
            <a:r>
              <a:rPr lang="en-GB" sz="10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r>
              <a:rPr lang="en-GB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Capital Gains Tax (CGT)</a:t>
            </a:r>
            <a:endParaRPr lang="en-GB" sz="1050" dirty="0">
              <a:latin typeface="Arial"/>
            </a:endParaRPr>
          </a:p>
          <a:p>
            <a:pPr marL="171450" indent="-171450" algn="just">
              <a:buFont typeface="Arial"/>
              <a:buChar char="•"/>
            </a:pPr>
            <a:r>
              <a:rPr lang="en-GB" sz="10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50" dirty="0">
              <a:latin typeface="Arial"/>
            </a:endParaRPr>
          </a:p>
        </p:txBody>
      </p:sp>
      <p:sp>
        <p:nvSpPr>
          <p:cNvPr id="2" name="Google Shape;252;p15">
            <a:extLst>
              <a:ext uri="{FF2B5EF4-FFF2-40B4-BE49-F238E27FC236}">
                <a16:creationId xmlns:a16="http://schemas.microsoft.com/office/drawing/2014/main" id="{DA53DDE0-9A74-3868-B029-FE0B31CDB907}"/>
              </a:ext>
            </a:extLst>
          </p:cNvPr>
          <p:cNvSpPr txBox="1"/>
          <p:nvPr/>
        </p:nvSpPr>
        <p:spPr>
          <a:xfrm>
            <a:off x="6148223" y="1073626"/>
            <a:ext cx="5656800" cy="4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r>
              <a:rPr lang="en-GB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Stamp Duty and SDLT</a:t>
            </a:r>
            <a:endParaRPr lang="en-GB" sz="1050" dirty="0">
              <a:latin typeface="Arial"/>
            </a:endParaRPr>
          </a:p>
          <a:p>
            <a:pPr marL="171450" indent="-171450" algn="just">
              <a:buFont typeface="Arial"/>
              <a:buChar char="•"/>
            </a:pPr>
            <a:r>
              <a:rPr lang="en-GB" sz="10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r>
              <a:rPr lang="en-GB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Corporation Tax (CT)</a:t>
            </a:r>
            <a:endParaRPr lang="en-GB" sz="1050" dirty="0">
              <a:latin typeface="Arial"/>
            </a:endParaRPr>
          </a:p>
          <a:p>
            <a:pPr marL="171450" indent="-171450" algn="just">
              <a:buFont typeface="Arial"/>
              <a:buChar char="•"/>
            </a:pPr>
            <a:r>
              <a:rPr lang="en-GB" sz="10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r>
              <a:rPr lang="en-GB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Income Tax</a:t>
            </a:r>
            <a:endParaRPr lang="en-GB" sz="1050" dirty="0">
              <a:latin typeface="Arial"/>
            </a:endParaRPr>
          </a:p>
          <a:p>
            <a:pPr marL="171450" indent="-171450" algn="just">
              <a:buFont typeface="Arial"/>
              <a:buChar char="•"/>
            </a:pPr>
            <a:r>
              <a:rPr lang="en-GB" sz="10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r>
              <a:rPr lang="en-GB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 considerations</a:t>
            </a:r>
            <a:endParaRPr lang="en-GB" sz="1050" dirty="0">
              <a:latin typeface="Arial"/>
            </a:endParaRPr>
          </a:p>
          <a:p>
            <a:pPr marL="171450" indent="-171450" algn="just">
              <a:buFont typeface="Arial"/>
              <a:buChar char="•"/>
            </a:pPr>
            <a:r>
              <a:rPr lang="en-GB" sz="10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50" dirty="0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9">
          <a:extLst>
            <a:ext uri="{FF2B5EF4-FFF2-40B4-BE49-F238E27FC236}">
              <a16:creationId xmlns:a16="http://schemas.microsoft.com/office/drawing/2014/main" id="{AA334F84-61BA-80F7-9F75-D99F47B64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">
            <a:extLst>
              <a:ext uri="{FF2B5EF4-FFF2-40B4-BE49-F238E27FC236}">
                <a16:creationId xmlns:a16="http://schemas.microsoft.com/office/drawing/2014/main" id="{AE349EB4-C497-1983-2F0F-DF60DEE2E784}"/>
              </a:ext>
            </a:extLst>
          </p:cNvPr>
          <p:cNvSpPr txBox="1"/>
          <p:nvPr/>
        </p:nvSpPr>
        <p:spPr>
          <a:xfrm>
            <a:off x="11519381" y="6356331"/>
            <a:ext cx="381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000"/>
              <a:buFont typeface="Georgia"/>
              <a:buNone/>
              <a:tabLst/>
              <a:defRPr/>
            </a:pPr>
            <a:fld id="{00000000-1234-1234-1234-123412341234}" type="slidenum"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srgbClr val="1D1A17"/>
                </a:solidFill>
                <a:effectLst/>
                <a:uLnTx/>
                <a:uFillTx/>
                <a:latin typeface="Georgia"/>
                <a:ea typeface="Georgia"/>
                <a:cs typeface="Georgia"/>
                <a:sym typeface="Georgi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A17"/>
                </a:buClr>
                <a:buSzPts val="1000"/>
                <a:buFont typeface="Georgia"/>
                <a:buNone/>
                <a:tabLst/>
                <a:defRPr/>
              </a:pPr>
              <a:t>15</a:t>
            </a:fld>
            <a:endParaRPr kumimoji="0" sz="1000" b="1" i="0" u="none" strike="noStrike" kern="0" cap="none" spc="0" normalizeH="0" baseline="0" noProof="0">
              <a:ln>
                <a:noFill/>
              </a:ln>
              <a:solidFill>
                <a:srgbClr val="1D1A17"/>
              </a:solidFill>
              <a:effectLst/>
              <a:uLnTx/>
              <a:uFillTx/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1" name="Google Shape;251;p15">
            <a:extLst>
              <a:ext uri="{FF2B5EF4-FFF2-40B4-BE49-F238E27FC236}">
                <a16:creationId xmlns:a16="http://schemas.microsoft.com/office/drawing/2014/main" id="{9C70026F-21FD-104A-A88D-B918611DC0D9}"/>
              </a:ext>
            </a:extLst>
          </p:cNvPr>
          <p:cNvSpPr txBox="1"/>
          <p:nvPr/>
        </p:nvSpPr>
        <p:spPr>
          <a:xfrm>
            <a:off x="634616" y="356770"/>
            <a:ext cx="10762735" cy="28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800" rIns="0" bIns="0" anchor="ctr" anchorCtr="0">
            <a:noAutofit/>
          </a:bodyPr>
          <a:lstStyle/>
          <a:p>
            <a:pPr lvl="0">
              <a:lnSpc>
                <a:spcPct val="103642"/>
              </a:lnSpc>
              <a:buClr>
                <a:schemeClr val="dk1"/>
              </a:buClr>
              <a:buSzPts val="2800"/>
            </a:pPr>
            <a:r>
              <a:rPr lang="en-GB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[PROPOSAL SECTION]</a:t>
            </a:r>
            <a:br>
              <a:rPr lang="en-GB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lt1"/>
              </a:solidFill>
            </a:endParaRPr>
          </a:p>
        </p:txBody>
      </p:sp>
      <p:sp>
        <p:nvSpPr>
          <p:cNvPr id="252" name="Google Shape;252;p15">
            <a:extLst>
              <a:ext uri="{FF2B5EF4-FFF2-40B4-BE49-F238E27FC236}">
                <a16:creationId xmlns:a16="http://schemas.microsoft.com/office/drawing/2014/main" id="{B28A4683-C359-84BD-F08C-388BD3F49D5B}"/>
              </a:ext>
            </a:extLst>
          </p:cNvPr>
          <p:cNvSpPr txBox="1"/>
          <p:nvPr/>
        </p:nvSpPr>
        <p:spPr>
          <a:xfrm>
            <a:off x="423525" y="1073626"/>
            <a:ext cx="5656800" cy="4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None/>
            </a:pPr>
            <a:r>
              <a:rPr lang="en-GB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FEES AND SCOPE OF WORK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r>
              <a:rPr lang="en-GB" sz="10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3309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"/>
          <p:cNvSpPr txBox="1"/>
          <p:nvPr/>
        </p:nvSpPr>
        <p:spPr>
          <a:xfrm>
            <a:off x="11519381" y="6356331"/>
            <a:ext cx="381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/>
              <a:buNone/>
            </a:pPr>
            <a:fld id="{00000000-1234-1234-1234-123412341234}" type="slidenum">
              <a:rPr lang="en-GB" sz="1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16</a:t>
            </a:fld>
            <a:endParaRPr sz="1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634616" y="356770"/>
            <a:ext cx="10762735" cy="28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800" rIns="0" bIns="0" anchor="ctr" anchorCtr="0">
            <a:noAutofit/>
          </a:bodyPr>
          <a:lstStyle/>
          <a:p>
            <a:pPr marL="0" marR="0" lvl="0" indent="0" algn="l" rtl="0">
              <a:lnSpc>
                <a:spcPct val="1036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GB" sz="2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FUTURE CONSIDERATIONS</a:t>
            </a:r>
            <a:endParaRPr lang="en-GB"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4"/>
          <p:cNvSpPr txBox="1"/>
          <p:nvPr/>
        </p:nvSpPr>
        <p:spPr>
          <a:xfrm>
            <a:off x="6205125" y="640974"/>
            <a:ext cx="5764800" cy="548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None/>
            </a:pPr>
            <a:r>
              <a:rPr lang="en-GB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[HEADING]</a:t>
            </a:r>
            <a:endParaRPr lang="en-GB" sz="1000" dirty="0">
              <a:latin typeface="Arial"/>
            </a:endParaRPr>
          </a:p>
          <a:p>
            <a:pPr algn="just">
              <a:buNone/>
            </a:pPr>
            <a:r>
              <a:rPr lang="en-GB" sz="10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00" dirty="0">
              <a:latin typeface="Arial"/>
            </a:endParaRPr>
          </a:p>
          <a:p>
            <a:pPr algn="just">
              <a:buNone/>
            </a:pPr>
            <a:endParaRPr lang="en-GB" sz="1000" dirty="0">
              <a:latin typeface="Arial"/>
            </a:endParaRPr>
          </a:p>
          <a:p>
            <a:pPr algn="just">
              <a:buNone/>
            </a:pPr>
            <a:r>
              <a:rPr lang="en-GB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[HEADING]</a:t>
            </a:r>
            <a:endParaRPr lang="en-GB" sz="1000" dirty="0">
              <a:latin typeface="Arial"/>
            </a:endParaRPr>
          </a:p>
          <a:p>
            <a:pPr marL="171450" indent="-171450" algn="just">
              <a:buFont typeface="Arial"/>
              <a:buChar char="•"/>
            </a:pPr>
            <a:r>
              <a:rPr lang="en-GB" sz="10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</a:p>
          <a:p>
            <a:pPr marL="171450" indent="-171450" algn="just">
              <a:buFont typeface="Arial"/>
              <a:buChar char="•"/>
            </a:pPr>
            <a:endParaRPr lang="en-GB" sz="1000" dirty="0">
              <a:latin typeface="Arial"/>
            </a:endParaRPr>
          </a:p>
          <a:p>
            <a:pPr algn="just">
              <a:buNone/>
            </a:pPr>
            <a:r>
              <a:rPr lang="en-GB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[HEADING]</a:t>
            </a:r>
            <a:endParaRPr lang="en-GB" sz="1000" dirty="0">
              <a:latin typeface="Arial"/>
            </a:endParaRPr>
          </a:p>
          <a:p>
            <a:pPr marL="171450" indent="-171450" algn="just">
              <a:buFont typeface="Arial"/>
              <a:buChar char="•"/>
            </a:pPr>
            <a:r>
              <a:rPr lang="en-GB" sz="10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00" dirty="0">
              <a:latin typeface="Arial"/>
            </a:endParaRPr>
          </a:p>
          <a:p>
            <a:pPr marL="171450" indent="-171450" algn="just">
              <a:buFont typeface="Arial"/>
              <a:buChar char="•"/>
            </a:pPr>
            <a:endParaRPr lang="en-GB" sz="1000" dirty="0">
              <a:latin typeface="Arial"/>
            </a:endParaRPr>
          </a:p>
          <a:p>
            <a:pPr algn="just">
              <a:buNone/>
            </a:pPr>
            <a:r>
              <a:rPr lang="en-GB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[HEADING]</a:t>
            </a:r>
            <a:endParaRPr lang="en-GB" sz="1000" dirty="0">
              <a:latin typeface="Arial"/>
            </a:endParaRPr>
          </a:p>
          <a:p>
            <a:pPr marL="171450" indent="-171450" algn="just">
              <a:buFont typeface="Arial"/>
              <a:buChar char="•"/>
            </a:pPr>
            <a:r>
              <a:rPr lang="en-GB" sz="10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00" dirty="0">
              <a:latin typeface="Arial"/>
            </a:endParaRPr>
          </a:p>
          <a:p>
            <a:pPr marL="171450" indent="-171450" algn="just">
              <a:buFont typeface="Arial"/>
              <a:buChar char="•"/>
            </a:pPr>
            <a:endParaRPr lang="en-GB" sz="1000" dirty="0">
              <a:latin typeface="Arial"/>
            </a:endParaRPr>
          </a:p>
          <a:p>
            <a:pPr algn="just">
              <a:buNone/>
            </a:pPr>
            <a:r>
              <a:rPr lang="en-GB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POINTS TO NOTE</a:t>
            </a:r>
            <a:endParaRPr lang="en-GB" sz="1000" dirty="0">
              <a:latin typeface="Arial"/>
            </a:endParaRPr>
          </a:p>
          <a:p>
            <a:pPr marL="171450" indent="-171450" algn="just">
              <a:buFont typeface="Arial"/>
              <a:buChar char="•"/>
            </a:pPr>
            <a:r>
              <a:rPr lang="en-GB" sz="10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00" dirty="0">
              <a:latin typeface="Arial"/>
            </a:endParaRPr>
          </a:p>
          <a:p>
            <a:pPr algn="just">
              <a:buNone/>
            </a:pPr>
            <a:endParaRPr lang="en-GB" sz="1000" dirty="0">
              <a:latin typeface="Arial"/>
            </a:endParaRPr>
          </a:p>
        </p:txBody>
      </p:sp>
      <p:sp>
        <p:nvSpPr>
          <p:cNvPr id="5018" name="Google Shape;182;p8">
            <a:extLst>
              <a:ext uri="{FF2B5EF4-FFF2-40B4-BE49-F238E27FC236}">
                <a16:creationId xmlns:a16="http://schemas.microsoft.com/office/drawing/2014/main" id="{7C21B716-3889-8CA6-FEE4-5E8406852FC6}"/>
              </a:ext>
            </a:extLst>
          </p:cNvPr>
          <p:cNvSpPr/>
          <p:nvPr/>
        </p:nvSpPr>
        <p:spPr>
          <a:xfrm>
            <a:off x="2758351" y="1400000"/>
            <a:ext cx="283298" cy="474670"/>
          </a:xfrm>
          <a:custGeom>
            <a:avLst/>
            <a:gdLst/>
            <a:ahLst/>
            <a:cxnLst/>
            <a:rect l="l" t="t" r="r" b="b"/>
            <a:pathLst>
              <a:path w="26381" h="43659" extrusionOk="0">
                <a:moveTo>
                  <a:pt x="11210" y="9732"/>
                </a:moveTo>
                <a:cubicBezTo>
                  <a:pt x="11190" y="9745"/>
                  <a:pt x="4882" y="9351"/>
                  <a:pt x="4862" y="9364"/>
                </a:cubicBezTo>
                <a:lnTo>
                  <a:pt x="0" y="21086"/>
                </a:lnTo>
                <a:lnTo>
                  <a:pt x="3789" y="22349"/>
                </a:lnTo>
                <a:lnTo>
                  <a:pt x="7160" y="13355"/>
                </a:lnTo>
                <a:cubicBezTo>
                  <a:pt x="7186" y="16993"/>
                  <a:pt x="7238" y="20168"/>
                  <a:pt x="7264" y="23806"/>
                </a:cubicBezTo>
                <a:lnTo>
                  <a:pt x="2389" y="43560"/>
                </a:lnTo>
                <a:lnTo>
                  <a:pt x="7383" y="43615"/>
                </a:lnTo>
                <a:lnTo>
                  <a:pt x="13572" y="26995"/>
                </a:lnTo>
                <a:lnTo>
                  <a:pt x="19486" y="43659"/>
                </a:lnTo>
                <a:lnTo>
                  <a:pt x="24543" y="43597"/>
                </a:lnTo>
                <a:lnTo>
                  <a:pt x="19599" y="23845"/>
                </a:lnTo>
                <a:cubicBezTo>
                  <a:pt x="19624" y="20283"/>
                  <a:pt x="19633" y="16991"/>
                  <a:pt x="19658" y="13429"/>
                </a:cubicBezTo>
                <a:lnTo>
                  <a:pt x="23287" y="22244"/>
                </a:lnTo>
                <a:lnTo>
                  <a:pt x="26381" y="20532"/>
                </a:lnTo>
                <a:lnTo>
                  <a:pt x="22135" y="9264"/>
                </a:lnTo>
                <a:lnTo>
                  <a:pt x="15096" y="9847"/>
                </a:lnTo>
                <a:cubicBezTo>
                  <a:pt x="18352" y="7696"/>
                  <a:pt x="18099" y="5804"/>
                  <a:pt x="18168" y="5042"/>
                </a:cubicBezTo>
                <a:lnTo>
                  <a:pt x="18168" y="5042"/>
                </a:lnTo>
                <a:cubicBezTo>
                  <a:pt x="18168" y="2375"/>
                  <a:pt x="15946" y="0"/>
                  <a:pt x="13279" y="0"/>
                </a:cubicBezTo>
                <a:cubicBezTo>
                  <a:pt x="10285" y="45"/>
                  <a:pt x="8210" y="2590"/>
                  <a:pt x="8091" y="4812"/>
                </a:cubicBezTo>
                <a:cubicBezTo>
                  <a:pt x="8057" y="6947"/>
                  <a:pt x="9286" y="8616"/>
                  <a:pt x="11187" y="9808"/>
                </a:cubicBezTo>
              </a:path>
            </a:pathLst>
          </a:cu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7"/>
              </a:buClr>
              <a:buSzPts val="1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9" name="Google Shape;183;p8">
            <a:extLst>
              <a:ext uri="{FF2B5EF4-FFF2-40B4-BE49-F238E27FC236}">
                <a16:creationId xmlns:a16="http://schemas.microsoft.com/office/drawing/2014/main" id="{428A2A10-7A53-8773-F0C5-4A150FFBB734}"/>
              </a:ext>
            </a:extLst>
          </p:cNvPr>
          <p:cNvSpPr txBox="1"/>
          <p:nvPr/>
        </p:nvSpPr>
        <p:spPr>
          <a:xfrm>
            <a:off x="1900000" y="1914670"/>
            <a:ext cx="2000000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[Label]</a:t>
            </a:r>
            <a:br>
              <a:rPr lang="en-GB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20" name="Connector 5019"/>
          <p:cNvCxnSpPr/>
          <p:nvPr/>
        </p:nvCxnSpPr>
        <p:spPr>
          <a:xfrm flipH="1">
            <a:off x="1550000" y="2314670"/>
            <a:ext cx="1350000" cy="435330"/>
          </a:xfrm>
          <a:prstGeom prst="line">
            <a:avLst/>
          </a:prstGeom>
          <a:ln w="12700">
            <a:solidFill>
              <a:srgbClr val="1D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Google Shape;228;p14"/>
          <p:cNvSpPr/>
          <p:nvPr/>
        </p:nvSpPr>
        <p:spPr>
          <a:xfrm>
            <a:off x="970821" y="2750000"/>
            <a:ext cx="1158357" cy="91476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 w="12700" cap="flat" cmpd="sng">
            <a:solidFill>
              <a:srgbClr val="625A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eorgia"/>
              <a:buNone/>
            </a:pPr>
            <a:r>
              <a:rPr lang="en-GB" sz="1100" b="1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DT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1" name="TextBox 5020"/>
          <p:cNvSpPr txBox="1"/>
          <p:nvPr/>
        </p:nvSpPr>
        <p:spPr>
          <a:xfrm>
            <a:off x="600000" y="3704760"/>
            <a:ext cx="19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[Label]</a:t>
            </a:r>
            <a:endParaRPr lang="en-GB" sz="900" dirty="0">
              <a:latin typeface="Arial"/>
            </a:endParaRPr>
          </a:p>
          <a:p>
            <a:pPr algn="ctr">
              <a:buNone/>
            </a:pPr>
            <a:r>
              <a:rPr lang="en-GB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 to £[x]k (CLT)</a:t>
            </a:r>
            <a:endParaRPr lang="en-GB" sz="900" dirty="0">
              <a:latin typeface="Arial"/>
            </a:endParaRPr>
          </a:p>
        </p:txBody>
      </p:sp>
      <p:cxnSp>
        <p:nvCxnSpPr>
          <p:cNvPr id="5023" name="Connector 5022"/>
          <p:cNvCxnSpPr/>
          <p:nvPr/>
        </p:nvCxnSpPr>
        <p:spPr>
          <a:xfrm>
            <a:off x="2900000" y="2314670"/>
            <a:ext cx="1350000" cy="435330"/>
          </a:xfrm>
          <a:prstGeom prst="line">
            <a:avLst/>
          </a:prstGeom>
          <a:ln w="12700">
            <a:solidFill>
              <a:srgbClr val="1D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Google Shape;228;p14"/>
          <p:cNvSpPr/>
          <p:nvPr/>
        </p:nvSpPr>
        <p:spPr>
          <a:xfrm>
            <a:off x="3670821" y="2750000"/>
            <a:ext cx="1158357" cy="91476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 w="12700" cap="flat" cmpd="sng">
            <a:solidFill>
              <a:srgbClr val="625A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eorgia"/>
              <a:buNone/>
            </a:pPr>
            <a:r>
              <a:rPr lang="en-GB" sz="1100" b="1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BT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4" name="TextBox 5023"/>
          <p:cNvSpPr txBox="1"/>
          <p:nvPr/>
        </p:nvSpPr>
        <p:spPr>
          <a:xfrm>
            <a:off x="3300000" y="3704760"/>
            <a:ext cx="19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[Label]</a:t>
            </a:r>
            <a:endParaRPr lang="en-GB" sz="900" dirty="0">
              <a:latin typeface="Arial"/>
            </a:endParaRPr>
          </a:p>
          <a:p>
            <a:pPr algn="ctr">
              <a:buNone/>
            </a:pPr>
            <a:r>
              <a:rPr lang="en-GB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upper limit (PET)</a:t>
            </a:r>
            <a:endParaRPr lang="en-GB" sz="900" dirty="0">
              <a:latin typeface="Arial"/>
            </a:endParaRPr>
          </a:p>
        </p:txBody>
      </p:sp>
      <p:sp>
        <p:nvSpPr>
          <p:cNvPr id="5026" name="TextBox 5025"/>
          <p:cNvSpPr txBox="1"/>
          <p:nvPr/>
        </p:nvSpPr>
        <p:spPr>
          <a:xfrm>
            <a:off x="2250000" y="2380000"/>
            <a:ext cx="1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850" b="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[Label]</a:t>
            </a:r>
            <a:endParaRPr lang="en-GB" sz="850" dirty="0">
              <a:latin typeface="Arial"/>
            </a:endParaRPr>
          </a:p>
          <a:p>
            <a:pPr algn="ctr">
              <a:buNone/>
            </a:pPr>
            <a:r>
              <a:rPr lang="en-GB" sz="850" b="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[Label]</a:t>
            </a:r>
            <a:endParaRPr lang="en-GB" sz="850" dirty="0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"/>
          <p:cNvSpPr txBox="1"/>
          <p:nvPr/>
        </p:nvSpPr>
        <p:spPr>
          <a:xfrm>
            <a:off x="11519381" y="6356331"/>
            <a:ext cx="381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/>
              <a:buNone/>
            </a:pPr>
            <a:fld id="{00000000-1234-1234-1234-123412341234}" type="slidenum">
              <a:rPr lang="en-GB" sz="1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17</a:t>
            </a:fld>
            <a:endParaRPr sz="1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9" name="Google Shape;259;p16"/>
          <p:cNvSpPr txBox="1"/>
          <p:nvPr/>
        </p:nvSpPr>
        <p:spPr>
          <a:xfrm>
            <a:off x="3112654" y="3008905"/>
            <a:ext cx="5966692" cy="84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6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6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sz="4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"/>
          <p:cNvSpPr txBox="1"/>
          <p:nvPr/>
        </p:nvSpPr>
        <p:spPr>
          <a:xfrm>
            <a:off x="11519381" y="6356331"/>
            <a:ext cx="381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/>
              <a:buNone/>
            </a:pPr>
            <a:fld id="{00000000-1234-1234-1234-123412341234}" type="slidenum">
              <a:rPr lang="en-GB" sz="1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18</a:t>
            </a:fld>
            <a:endParaRPr sz="1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5" name="Google Shape;265;p17"/>
          <p:cNvSpPr txBox="1"/>
          <p:nvPr/>
        </p:nvSpPr>
        <p:spPr>
          <a:xfrm>
            <a:off x="634616" y="356770"/>
            <a:ext cx="10762735" cy="28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800" rIns="0" bIns="0" anchor="ctr" anchorCtr="0">
            <a:noAutofit/>
          </a:bodyPr>
          <a:lstStyle/>
          <a:p>
            <a:pPr marL="0" marR="0" lvl="0" indent="0" algn="l" rtl="0">
              <a:lnSpc>
                <a:spcPct val="1036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GB"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7"/>
          <p:cNvSpPr txBox="1"/>
          <p:nvPr/>
        </p:nvSpPr>
        <p:spPr>
          <a:xfrm>
            <a:off x="718700" y="1431523"/>
            <a:ext cx="5474303" cy="234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would be grateful if you could review this proposal in detail in the first instance.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Thereafter, we’ll talk through our proposal in more detail to help you gain a better understanding of the commercial and tax benefits.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decide to proceed with the proposed phases of work, we will issue a formal letter of engagement to you to commence work. 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look forward to hearing from you.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TextBox 266"/>
          <p:cNvSpPr txBox="1"/>
          <p:nvPr/>
        </p:nvSpPr>
        <p:spPr>
          <a:xfrm>
            <a:off x="6311975" y="1431523"/>
            <a:ext cx="52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WE WILL NEED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  <a:p>
            <a:pPr algn="just">
              <a:buNone/>
            </a:pPr>
            <a:r>
              <a:rPr lang="en-GB" sz="105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your text here.]</a:t>
            </a:r>
            <a:endParaRPr lang="en-GB" sz="1050" dirty="0">
              <a:latin typeface="Arial"/>
            </a:endParaRPr>
          </a:p>
          <a:p>
            <a:pPr algn="just">
              <a:buNone/>
            </a:pPr>
            <a:endParaRPr lang="en-GB" sz="1050" dirty="0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D1A17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1D1A17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1D1A17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1D1A17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1D1A17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1D1A17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1D1A17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1D1A17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FAE3298-47CE-004C-BE79-88484C0E68EC}">
  <we:reference id="11d7cf85-ae5a-43b8-bc58-1e1a151cce24" version="1.0.0.1" store="EXCatalog" storeType="EXCatalog"/>
  <we:alternateReferences>
    <we:reference id="WA200010725" version="1.0.0.1" store="en-GB" storeType="OMEX"/>
  </we:alternateReferences>
  <we:properties>
    <we:property name="claude.fileId" value="&quot;f2676477-736a-4da2-ad5a-76095652c65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3942</Words>
  <Application>Microsoft Office PowerPoint</Application>
  <PresentationFormat>Widescreen</PresentationFormat>
  <Paragraphs>327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Calibri</vt:lpstr>
      <vt:lpstr>Play</vt:lpstr>
      <vt:lpstr>Arial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Mia Jones</dc:creator>
  <cp:lastModifiedBy>Kishan Kavi</cp:lastModifiedBy>
  <cp:revision>3</cp:revision>
  <dcterms:created xsi:type="dcterms:W3CDTF">2025-05-28T13:36:14Z</dcterms:created>
  <dcterms:modified xsi:type="dcterms:W3CDTF">2026-10-01T11:29:22Z</dcterms:modified>
</cp:coreProperties>
</file>